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da32f0f53e4d7a" /><Relationship Type="http://schemas.openxmlformats.org/officeDocument/2006/relationships/extended-properties" Target="/docProps/app.xml" Id="R7f55c6baaca0401a" /><Relationship Type="http://schemas.openxmlformats.org/officeDocument/2006/relationships/officeDocument" Target="/ppt/presentation.xml" Id="Ra892b27e658f40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441d3d1e3843e0"/>
  </p:sldMasterIdLst>
  <p:notesMasterIdLst>
    <p:notesMasterId xmlns:r="http://schemas.openxmlformats.org/officeDocument/2006/relationships" r:id="R5728ee82efbc4c0f"/>
  </p:notesMasterIdLst>
  <p:sldIdLst>
    <p:sldId xmlns:r="http://schemas.openxmlformats.org/officeDocument/2006/relationships" id="256" r:id="Rcb6ae0fa7b704296"/>
    <p:sldId xmlns:r="http://schemas.openxmlformats.org/officeDocument/2006/relationships" id="257" r:id="R7c37e7fbb8d844b1"/>
    <p:sldId xmlns:r="http://schemas.openxmlformats.org/officeDocument/2006/relationships" id="258" r:id="R3fb7b7c652ad446c"/>
    <p:sldId xmlns:r="http://schemas.openxmlformats.org/officeDocument/2006/relationships" id="259" r:id="Rf9a8d0db0f28449d"/>
    <p:sldId xmlns:r="http://schemas.openxmlformats.org/officeDocument/2006/relationships" id="260" r:id="R0bf2f6812a344752"/>
    <p:sldId xmlns:r="http://schemas.openxmlformats.org/officeDocument/2006/relationships" id="261" r:id="Rf38bb66dab1c4978"/>
    <p:sldId xmlns:r="http://schemas.openxmlformats.org/officeDocument/2006/relationships" id="262" r:id="R6347905f739048ee"/>
    <p:sldId xmlns:r="http://schemas.openxmlformats.org/officeDocument/2006/relationships" id="263" r:id="R8ea8f209d8cb49ec"/>
    <p:sldId xmlns:r="http://schemas.openxmlformats.org/officeDocument/2006/relationships" id="264" r:id="R5918e16ea64a4f19"/>
    <p:sldId xmlns:r="http://schemas.openxmlformats.org/officeDocument/2006/relationships" id="265" r:id="R69107911a2c945c5"/>
    <p:sldId xmlns:r="http://schemas.openxmlformats.org/officeDocument/2006/relationships" id="266" r:id="Rd331f2ee791240f0"/>
    <p:sldId xmlns:r="http://schemas.openxmlformats.org/officeDocument/2006/relationships" id="267" r:id="R6d893240eb3f4a8d"/>
    <p:sldId xmlns:r="http://schemas.openxmlformats.org/officeDocument/2006/relationships" id="268" r:id="R9066f66f9f5a4769"/>
    <p:sldId xmlns:r="http://schemas.openxmlformats.org/officeDocument/2006/relationships" id="269" r:id="R06626bba3c0446be"/>
    <p:sldId xmlns:r="http://schemas.openxmlformats.org/officeDocument/2006/relationships" id="270" r:id="Rdc0533b3445f4b35"/>
    <p:sldId xmlns:r="http://schemas.openxmlformats.org/officeDocument/2006/relationships" id="271" r:id="R57893fbe11944f07"/>
    <p:sldId xmlns:r="http://schemas.openxmlformats.org/officeDocument/2006/relationships" id="272" r:id="R7794c70944bc4bc2"/>
    <p:sldId xmlns:r="http://schemas.openxmlformats.org/officeDocument/2006/relationships" id="273" r:id="Rc1aca6b25ea44c8e"/>
    <p:sldId xmlns:r="http://schemas.openxmlformats.org/officeDocument/2006/relationships" id="274" r:id="R635bb88083da4b1f"/>
    <p:sldId xmlns:r="http://schemas.openxmlformats.org/officeDocument/2006/relationships" id="275" r:id="Re555e085b6674eb8"/>
    <p:sldId xmlns:r="http://schemas.openxmlformats.org/officeDocument/2006/relationships" id="276" r:id="R063654fc9a80452c"/>
    <p:sldId xmlns:r="http://schemas.openxmlformats.org/officeDocument/2006/relationships" id="277" r:id="R3368e9afcb604c69"/>
    <p:sldId xmlns:r="http://schemas.openxmlformats.org/officeDocument/2006/relationships" id="278" r:id="Rc78495fa51124fc4"/>
    <p:sldId xmlns:r="http://schemas.openxmlformats.org/officeDocument/2006/relationships" id="279" r:id="Rb4f5d993ab66423a"/>
    <p:sldId xmlns:r="http://schemas.openxmlformats.org/officeDocument/2006/relationships" id="280" r:id="R67fffab7f11a45ac"/>
    <p:sldId xmlns:r="http://schemas.openxmlformats.org/officeDocument/2006/relationships" id="281" r:id="R633dca0b575841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fc92ab78894e8d" /><Relationship Type="http://schemas.openxmlformats.org/officeDocument/2006/relationships/slideMaster" Target="/ppt/slideMasters/slideMaster1.xml" Id="R01441d3d1e3843e0" /><Relationship Type="http://schemas.openxmlformats.org/officeDocument/2006/relationships/notesMaster" Target="/ppt/notesMasters/notesMaster1.xml" Id="R5728ee82efbc4c0f" /><Relationship Type="http://schemas.openxmlformats.org/officeDocument/2006/relationships/presProps" Target="/ppt/presProps.xml" Id="Rce8c45740bb74d3e" /><Relationship Type="http://schemas.openxmlformats.org/officeDocument/2006/relationships/tableStyles" Target="/ppt/tableStyles.xml" Id="R608cd7769ee84ab2" /><Relationship Type="http://schemas.openxmlformats.org/officeDocument/2006/relationships/slide" Target="/ppt/slides/slide1.xml" Id="Rcb6ae0fa7b704296" /><Relationship Type="http://schemas.openxmlformats.org/officeDocument/2006/relationships/slide" Target="/ppt/slides/slide2.xml" Id="R7c37e7fbb8d844b1" /><Relationship Type="http://schemas.openxmlformats.org/officeDocument/2006/relationships/slide" Target="/ppt/slides/slide3.xml" Id="R3fb7b7c652ad446c" /><Relationship Type="http://schemas.openxmlformats.org/officeDocument/2006/relationships/slide" Target="/ppt/slides/slide4.xml" Id="Rf9a8d0db0f28449d" /><Relationship Type="http://schemas.openxmlformats.org/officeDocument/2006/relationships/slide" Target="/ppt/slides/slide5.xml" Id="R0bf2f6812a344752" /><Relationship Type="http://schemas.openxmlformats.org/officeDocument/2006/relationships/slide" Target="/ppt/slides/slide6.xml" Id="Rf38bb66dab1c4978" /><Relationship Type="http://schemas.openxmlformats.org/officeDocument/2006/relationships/slide" Target="/ppt/slides/slide7.xml" Id="R6347905f739048ee" /><Relationship Type="http://schemas.openxmlformats.org/officeDocument/2006/relationships/slide" Target="/ppt/slides/slide8.xml" Id="R8ea8f209d8cb49ec" /><Relationship Type="http://schemas.openxmlformats.org/officeDocument/2006/relationships/slide" Target="/ppt/slides/slide9.xml" Id="R5918e16ea64a4f19" /><Relationship Type="http://schemas.openxmlformats.org/officeDocument/2006/relationships/slide" Target="/ppt/slides/slide10.xml" Id="R69107911a2c945c5" /><Relationship Type="http://schemas.openxmlformats.org/officeDocument/2006/relationships/slide" Target="/ppt/slides/slide11.xml" Id="Rd331f2ee791240f0" /><Relationship Type="http://schemas.openxmlformats.org/officeDocument/2006/relationships/slide" Target="/ppt/slides/slide12.xml" Id="R6d893240eb3f4a8d" /><Relationship Type="http://schemas.openxmlformats.org/officeDocument/2006/relationships/slide" Target="/ppt/slides/slide13.xml" Id="R9066f66f9f5a4769" /><Relationship Type="http://schemas.openxmlformats.org/officeDocument/2006/relationships/slide" Target="/ppt/slides/slide14.xml" Id="R06626bba3c0446be" /><Relationship Type="http://schemas.openxmlformats.org/officeDocument/2006/relationships/slide" Target="/ppt/slides/slide15.xml" Id="Rdc0533b3445f4b35" /><Relationship Type="http://schemas.openxmlformats.org/officeDocument/2006/relationships/slide" Target="/ppt/slides/slide16.xml" Id="R57893fbe11944f07" /><Relationship Type="http://schemas.openxmlformats.org/officeDocument/2006/relationships/slide" Target="/ppt/slides/slide17.xml" Id="R7794c70944bc4bc2" /><Relationship Type="http://schemas.openxmlformats.org/officeDocument/2006/relationships/slide" Target="/ppt/slides/slide18.xml" Id="Rc1aca6b25ea44c8e" /><Relationship Type="http://schemas.openxmlformats.org/officeDocument/2006/relationships/slide" Target="/ppt/slides/slide19.xml" Id="R635bb88083da4b1f" /><Relationship Type="http://schemas.openxmlformats.org/officeDocument/2006/relationships/slide" Target="/ppt/slides/slide20.xml" Id="Re555e085b6674eb8" /><Relationship Type="http://schemas.openxmlformats.org/officeDocument/2006/relationships/slide" Target="/ppt/slides/slide21.xml" Id="R063654fc9a80452c" /><Relationship Type="http://schemas.openxmlformats.org/officeDocument/2006/relationships/slide" Target="/ppt/slides/slide22.xml" Id="R3368e9afcb604c69" /><Relationship Type="http://schemas.openxmlformats.org/officeDocument/2006/relationships/slide" Target="/ppt/slides/slide23.xml" Id="Rc78495fa51124fc4" /><Relationship Type="http://schemas.openxmlformats.org/officeDocument/2006/relationships/slide" Target="/ppt/slides/slide24.xml" Id="Rb4f5d993ab66423a" /><Relationship Type="http://schemas.openxmlformats.org/officeDocument/2006/relationships/slide" Target="/ppt/slides/slide25.xml" Id="R67fffab7f11a45ac" /><Relationship Type="http://schemas.openxmlformats.org/officeDocument/2006/relationships/slide" Target="/ppt/slides/slide26.xml" Id="R633dca0b575841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798f0f71de46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fc2d6c69ae4f60" /><Relationship Type="http://schemas.openxmlformats.org/officeDocument/2006/relationships/notesMaster" Target="/ppt/notesMasters/notesMaster1.xml" Id="R46d1e9407c0c45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6b1618e1ae4474" /><Relationship Type="http://schemas.openxmlformats.org/officeDocument/2006/relationships/notesMaster" Target="/ppt/notesMasters/notesMaster1.xml" Id="Rcdca26e447514e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3ba4af52fd425f" /><Relationship Type="http://schemas.openxmlformats.org/officeDocument/2006/relationships/notesMaster" Target="/ppt/notesMasters/notesMaster1.xml" Id="Rfd78b3fa585b4e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cdece156e8493f" /><Relationship Type="http://schemas.openxmlformats.org/officeDocument/2006/relationships/notesMaster" Target="/ppt/notesMasters/notesMaster1.xml" Id="Re493c1f5d42a40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7c533fd42040fc" /><Relationship Type="http://schemas.openxmlformats.org/officeDocument/2006/relationships/notesMaster" Target="/ppt/notesMasters/notesMaster1.xml" Id="R53c3865fa45c42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bb42212df645d9" /><Relationship Type="http://schemas.openxmlformats.org/officeDocument/2006/relationships/notesMaster" Target="/ppt/notesMasters/notesMaster1.xml" Id="Rdb42c2a1fa0844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7e3b92263b475a" /><Relationship Type="http://schemas.openxmlformats.org/officeDocument/2006/relationships/notesMaster" Target="/ppt/notesMasters/notesMaster1.xml" Id="Ra0291b94008949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92867de99f4efa" /><Relationship Type="http://schemas.openxmlformats.org/officeDocument/2006/relationships/notesMaster" Target="/ppt/notesMasters/notesMaster1.xml" Id="R6c3cc43e6c8144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5fafae466640b6" /><Relationship Type="http://schemas.openxmlformats.org/officeDocument/2006/relationships/notesMaster" Target="/ppt/notesMasters/notesMaster1.xml" Id="R829194a9624644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7c9e6befb749a0" /><Relationship Type="http://schemas.openxmlformats.org/officeDocument/2006/relationships/notesMaster" Target="/ppt/notesMasters/notesMaster1.xml" Id="R9b4c2eb3d7554e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7eb15c791442a1" /><Relationship Type="http://schemas.openxmlformats.org/officeDocument/2006/relationships/notesMaster" Target="/ppt/notesMasters/notesMaster1.xml" Id="R41875447f81042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8ad085fc554d1a" /><Relationship Type="http://schemas.openxmlformats.org/officeDocument/2006/relationships/notesMaster" Target="/ppt/notesMasters/notesMaster1.xml" Id="R117242da127b49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a56feda9024337" /><Relationship Type="http://schemas.openxmlformats.org/officeDocument/2006/relationships/notesMaster" Target="/ppt/notesMasters/notesMaster1.xml" Id="R3d76982962b14c0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9c605d08684f66" /><Relationship Type="http://schemas.openxmlformats.org/officeDocument/2006/relationships/notesMaster" Target="/ppt/notesMasters/notesMaster1.xml" Id="Rbd5e822b6e694b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b7a954cca445b5" /><Relationship Type="http://schemas.openxmlformats.org/officeDocument/2006/relationships/notesMaster" Target="/ppt/notesMasters/notesMaster1.xml" Id="R749f49b2548740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bea69f5b73b46ec" /><Relationship Type="http://schemas.openxmlformats.org/officeDocument/2006/relationships/notesMaster" Target="/ppt/notesMasters/notesMaster1.xml" Id="Rb2bd648dbcac4a0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11dfa902f364832" /><Relationship Type="http://schemas.openxmlformats.org/officeDocument/2006/relationships/notesMaster" Target="/ppt/notesMasters/notesMaster1.xml" Id="R13c6cee3904c4f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e1378b2eced4f02" /><Relationship Type="http://schemas.openxmlformats.org/officeDocument/2006/relationships/notesMaster" Target="/ppt/notesMasters/notesMaster1.xml" Id="R115c26cf1ff041b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a4b6b3604b642e8" /><Relationship Type="http://schemas.openxmlformats.org/officeDocument/2006/relationships/notesMaster" Target="/ppt/notesMasters/notesMaster1.xml" Id="Rf86e5c73212c4ae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d9d2b98e4d4ea3" /><Relationship Type="http://schemas.openxmlformats.org/officeDocument/2006/relationships/notesMaster" Target="/ppt/notesMasters/notesMaster1.xml" Id="R73f713b0750e44a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e43c8b8b8364309" /><Relationship Type="http://schemas.openxmlformats.org/officeDocument/2006/relationships/notesMaster" Target="/ppt/notesMasters/notesMaster1.xml" Id="Ra3c04d2412d044f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5e9f9616edd4055" /><Relationship Type="http://schemas.openxmlformats.org/officeDocument/2006/relationships/notesMaster" Target="/ppt/notesMasters/notesMaster1.xml" Id="R6291236216de48f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3e8a5493b71445d" /><Relationship Type="http://schemas.openxmlformats.org/officeDocument/2006/relationships/notesMaster" Target="/ppt/notesMasters/notesMaster1.xml" Id="R3290736a33dc415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8582783d0c54b67" /><Relationship Type="http://schemas.openxmlformats.org/officeDocument/2006/relationships/notesMaster" Target="/ppt/notesMasters/notesMaster1.xml" Id="R488b5705d8e3448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f73fdc3ae604f82" /><Relationship Type="http://schemas.openxmlformats.org/officeDocument/2006/relationships/notesMaster" Target="/ppt/notesMasters/notesMaster1.xml" Id="R2c4a74b606ee4d7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0b8aafe6aae4101" /><Relationship Type="http://schemas.openxmlformats.org/officeDocument/2006/relationships/notesMaster" Target="/ppt/notesMasters/notesMaster1.xml" Id="R1d27983d40c24d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deck only for the retrofit moments. Keep the existing Intro to CS, Video Game Design, and RVR decks for the rest of each unit.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five Passport pages. Tell students they complete only the checkpoint assigned today and keep the same document.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example aloud literally. Ask what a computer or partner would do when the direction is ambiguous.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with the Angry Birds route or another route puzzle already in the lesson. Keep the decomposition brief; students still complete the existing coding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draft on Passport Checkpoint 1, then build the same route in Code.org. Pseudocode does not need to match a single vendor syntax.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to a fast partner test. The purpose is to create evidence for revision, not to grade reading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bracket the smallest useful repeated group before they name the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may first encounter variables in blocks. Require meaningful names and connect each type to what it can store or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  <a:p xmlns:a="http://schemas.openxmlformats.org/drawingml/2006/main">
            <a:r>
              <a:t>- https://arcade.makecode.com/javascript/variables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do not need to write a programming-language function yet. The abstraction evidence is the generalized pseudocode and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extends the existing Debugging Detective bug log. Students should not backfill a prediction after seeing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 three records in Passport Checkpoint 3. A screenshot alone does not replace the cause-and-effect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copy one changed pseudocode line into the Passport and explain why the new algorithm is better.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choose one of the two required remix features and plan it before editing the project. Keep the existing feature requirements and rubric.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students build the feature in blocks, they record the test result in the same Passport section.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only new standalone bridge in the sprint. Students already have block-code experience from Video Game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  <a:p xmlns:a="http://schemas.openxmlformats.org/drawingml/2006/main">
            <a:r>
              <a:t>- https://arcade.makecode.com/docs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route once. If the welcome tour covers the language tabs, close it before selecting JavaScript.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https://arcade.makecode.com/</a:t>
            </a:r>
          </a:p>
          <a:p xmlns:a="http://schemas.openxmlformats.org/drawingml/2006/main">
            <a:r>
              <a:t>- https://arcade.makecode.com/docs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Passport trace table. Students identify what each variable stores or controls before changing any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https://arcade.makecode.com/javascript/variables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Physically trace the first row with a finger. Ask how many times the inner loop runs and how many times the outer loop runs.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https://arcade.makecode.com/javascript/statements</a:t>
            </a:r>
          </a:p>
          <a:p xmlns:a="http://schemas.openxmlformats.org/drawingml/2006/main">
            <a:r>
              <a:t>- https://arcade.makecode.com/blocks/loops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calculate one position by hand, then point to the multiplication and addition operations in the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the grid does not match the prediction, students use the Passport test table before asking for a replacement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https://arcade.makecode.com/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Supported route: give students the complete code and one highlighted bug. Core route: students identify the bug from the mismatched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  <a:p xmlns:a="http://schemas.openxmlformats.org/drawingml/2006/main">
            <a:r>
              <a:t>- https://arcade.makecode.com/javascript/statements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require the extension for proficiency. The core artifact already satisfies the text-code and nested-loop evidence when students can explain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  <a:p xmlns:a="http://schemas.openxmlformats.org/drawingml/2006/main">
            <a:r>
              <a:t>- https://arcade.makecode.com/javascript/statements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Score each category with the assignment rubric. Students may explain orally when documented by the teacher, but the code and test evidence remain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 this before students select Draw or Blocks. The planning evidence should name heading, speed, duration/distance, waits, and repeated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 the team to update the Passport after the first run. Do not accept a corrected robot program with an unchanged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final Passport reflection. This is the synthesis evidence for transfer across tools and contexts.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https://tea.texas.gov/laws-and-rules/texas-administrative-code/19-tac-chapter-126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b5b871b5cc44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67a7c661a74d14" /><Relationship Type="http://schemas.openxmlformats.org/officeDocument/2006/relationships/slideLayout" Target="/ppt/slideLayouts/slideLayout1.xml" Id="Re25287d254db41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5287d254db41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76d10299140c9" /><Relationship Type="http://schemas.openxmlformats.org/officeDocument/2006/relationships/notesSlide" Target="/ppt/notesSlides/notesSlide1.xml" Id="Rf775f997decb4e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1a612e171494a" /><Relationship Type="http://schemas.openxmlformats.org/officeDocument/2006/relationships/notesSlide" Target="/ppt/notesSlides/notesSlide2.xml" Id="R5b7100e1322045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fbeade19a4638" /><Relationship Type="http://schemas.openxmlformats.org/officeDocument/2006/relationships/notesSlide" Target="/ppt/notesSlides/notesSlide3.xml" Id="Rf97b74b4d14b43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b06e32afb4d15" /><Relationship Type="http://schemas.openxmlformats.org/officeDocument/2006/relationships/notesSlide" Target="/ppt/notesSlides/notesSlide4.xml" Id="R4d2b3fc4c66f4a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fc173bc234bad" /><Relationship Type="http://schemas.openxmlformats.org/officeDocument/2006/relationships/notesSlide" Target="/ppt/notesSlides/notesSlide5.xml" Id="R16cc7ea2246548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8be98f4804974" /><Relationship Type="http://schemas.openxmlformats.org/officeDocument/2006/relationships/notesSlide" Target="/ppt/notesSlides/notesSlide6.xml" Id="R52ee2756020a40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58955beb94e5f" /><Relationship Type="http://schemas.openxmlformats.org/officeDocument/2006/relationships/notesSlide" Target="/ppt/notesSlides/notesSlide7.xml" Id="Rc50ee3250db842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46d0a15ab4396" /><Relationship Type="http://schemas.openxmlformats.org/officeDocument/2006/relationships/notesSlide" Target="/ppt/notesSlides/notesSlide8.xml" Id="R14f271f85caa49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9b2a2337e4bed" /><Relationship Type="http://schemas.openxmlformats.org/officeDocument/2006/relationships/notesSlide" Target="/ppt/notesSlides/notesSlide9.xml" Id="R4b18f2a77af046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9e13cddef4ad6" /><Relationship Type="http://schemas.openxmlformats.org/officeDocument/2006/relationships/notesSlide" Target="/ppt/notesSlides/notesSlide10.xml" Id="Rd4eaefdeae3147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31f14d9414ea9" /><Relationship Type="http://schemas.openxmlformats.org/officeDocument/2006/relationships/notesSlide" Target="/ppt/notesSlides/notesSlide11.xml" Id="Rb354b621507c46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54ec00bfe435b" /><Relationship Type="http://schemas.openxmlformats.org/officeDocument/2006/relationships/notesSlide" Target="/ppt/notesSlides/notesSlide12.xml" Id="Rfd8956fd7c9043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c878984ea445e" /><Relationship Type="http://schemas.openxmlformats.org/officeDocument/2006/relationships/notesSlide" Target="/ppt/notesSlides/notesSlide13.xml" Id="R16da444e633b48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356daae7e41c0" /><Relationship Type="http://schemas.openxmlformats.org/officeDocument/2006/relationships/notesSlide" Target="/ppt/notesSlides/notesSlide14.xml" Id="R939de27926d149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673395dd4416e" /><Relationship Type="http://schemas.openxmlformats.org/officeDocument/2006/relationships/notesSlide" Target="/ppt/notesSlides/notesSlide15.xml" Id="R67fe7b2c50b44c1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bc402d7fd4802" /><Relationship Type="http://schemas.openxmlformats.org/officeDocument/2006/relationships/image" Target="/ppt/media/image.jpeg" Id="Rb28009a2d624481a" /><Relationship Type="http://schemas.openxmlformats.org/officeDocument/2006/relationships/notesSlide" Target="/ppt/notesSlides/notesSlide16.xml" Id="Rbf1363152d4146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e7c194b6740fb" /><Relationship Type="http://schemas.openxmlformats.org/officeDocument/2006/relationships/image" Target="/ppt/media/image2.jpeg" Id="R6f16ffdc3dd049dd" /><Relationship Type="http://schemas.openxmlformats.org/officeDocument/2006/relationships/notesSlide" Target="/ppt/notesSlides/notesSlide17.xml" Id="R60c2a7fe000e48f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6d18a4cb84000" /><Relationship Type="http://schemas.openxmlformats.org/officeDocument/2006/relationships/notesSlide" Target="/ppt/notesSlides/notesSlide18.xml" Id="R322713ff5457435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15521803145b9" /><Relationship Type="http://schemas.openxmlformats.org/officeDocument/2006/relationships/notesSlide" Target="/ppt/notesSlides/notesSlide19.xml" Id="R44035b87026c425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db6d7f4ef4e6c" /><Relationship Type="http://schemas.openxmlformats.org/officeDocument/2006/relationships/image" Target="/ppt/media/image3.jpeg" Id="R2789241e89c94f59" /><Relationship Type="http://schemas.openxmlformats.org/officeDocument/2006/relationships/notesSlide" Target="/ppt/notesSlides/notesSlide20.xml" Id="Rb2e690f3f70e423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38a4f95a448c4" /><Relationship Type="http://schemas.openxmlformats.org/officeDocument/2006/relationships/notesSlide" Target="/ppt/notesSlides/notesSlide21.xml" Id="R8fce51f8643e486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0c7e931bd42e3" /><Relationship Type="http://schemas.openxmlformats.org/officeDocument/2006/relationships/notesSlide" Target="/ppt/notesSlides/notesSlide22.xml" Id="R4c890360ff0b4cf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9d065aa87414d" /><Relationship Type="http://schemas.openxmlformats.org/officeDocument/2006/relationships/notesSlide" Target="/ppt/notesSlides/notesSlide23.xml" Id="Ra6092433de5e4b6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bf2bd32e34bca" /><Relationship Type="http://schemas.openxmlformats.org/officeDocument/2006/relationships/notesSlide" Target="/ppt/notesSlides/notesSlide24.xml" Id="Rf7e1acf33807434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c0c229edc4951" /><Relationship Type="http://schemas.openxmlformats.org/officeDocument/2006/relationships/notesSlide" Target="/ppt/notesSlides/notesSlide25.xml" Id="Rcedf4d0ff65e463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5f665dff24cbe" /><Relationship Type="http://schemas.openxmlformats.org/officeDocument/2006/relationships/notesSlide" Target="/ppt/notesSlides/notesSlide26.xml" Id="R3ba7d4d118164c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066A76DA-E909-4180-B6BA-A1D47C6A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B8C8"/>
                </a:solidFill>
              </a:defRPr>
            </a:pPr>
            <a:r>
              <a:rPr sz="1200" b="1">
                <a:solidFill>
                  <a:srgbClr val="00B8C8"/>
                </a:solidFill>
              </a:rPr>
              <a:t>SMART SOLUTIONS · CODING FOUNDATIONS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A72C54C-EA9B-4209-A90A-6007B979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Plan it. Test it. Code it.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3787109-0BC4-4457-BEB2-0EFE4108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FC1D6"/>
                </a:solidFill>
              </a:defRPr>
            </a:pPr>
            <a:r>
              <a:rPr sz="1950" b="0">
                <a:solidFill>
                  <a:srgbClr val="AFC1D6"/>
                </a:solidFill>
              </a:rPr>
              <a:t>A reusable pseudocode routine plus a two-day bridge from blocks to text.</a:t>
            </a:r>
          </a:p>
        </p:txBody>
      </p:sp>
      <p:sp>
        <p:nvSpPr>
          <p:cNvPr id="4" name="flow-0">
            <a:extLst xmlns:a="http://schemas.openxmlformats.org/drawingml/2006/main">
              <a:ext uri="{FF2B5EF4-FFF2-40B4-BE49-F238E27FC236}">
                <a16:creationId xmlns:a16="http://schemas.microsoft.com/office/drawing/2014/main" id="{C8FE53C5-3BB4-42D4-AFDA-5EC4FCF8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00B8C8"/>
            </a:solidFill>
            <a:prstDash val="solid"/>
          </a:ln>
        </p:spPr>
      </p:sp>
      <p:sp>
        <p:nvSpPr>
          <p:cNvPr id="5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B991AF94-CAC1-4FC8-96B1-D07CA03B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PLAN</a:t>
            </a:r>
          </a:p>
        </p:txBody>
      </p:sp>
      <p:sp>
        <p:nvSpPr>
          <p:cNvPr id="6" name="flow-1">
            <a:extLst xmlns:a="http://schemas.openxmlformats.org/drawingml/2006/main">
              <a:ext uri="{FF2B5EF4-FFF2-40B4-BE49-F238E27FC236}">
                <a16:creationId xmlns:a16="http://schemas.microsoft.com/office/drawing/2014/main" id="{CE7DFCE0-E4D3-42A2-A8D0-1A32004F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462915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54B68A"/>
            </a:solidFill>
            <a:prstDash val="solid"/>
          </a:ln>
        </p:spPr>
      </p:sp>
      <p:sp>
        <p:nvSpPr>
          <p:cNvPr id="7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EF16E114-A6FA-4DE9-918C-C00F3544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830" y="481965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NOTICE</a:t>
            </a:r>
          </a:p>
        </p:txBody>
      </p:sp>
      <p:sp>
        <p:nvSpPr>
          <p:cNvPr id="8" name="flow-2">
            <a:extLst xmlns:a="http://schemas.openxmlformats.org/drawingml/2006/main">
              <a:ext uri="{FF2B5EF4-FFF2-40B4-BE49-F238E27FC236}">
                <a16:creationId xmlns:a16="http://schemas.microsoft.com/office/drawing/2014/main" id="{AB8ECFB5-0B09-41E9-B1DF-A78F1AC1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860" y="462915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A970FF"/>
            </a:solidFill>
            <a:prstDash val="solid"/>
          </a:ln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43175CBA-851B-417F-8072-FFADD979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481965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TEST</a:t>
            </a:r>
          </a:p>
        </p:txBody>
      </p:sp>
      <p:sp>
        <p:nvSpPr>
          <p:cNvPr id="10" name="flow-3">
            <a:extLst xmlns:a="http://schemas.openxmlformats.org/drawingml/2006/main">
              <a:ext uri="{FF2B5EF4-FFF2-40B4-BE49-F238E27FC236}">
                <a16:creationId xmlns:a16="http://schemas.microsoft.com/office/drawing/2014/main" id="{1EDBC014-488D-4AEB-A855-4951DC6B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462915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FF6FAE"/>
            </a:solidFill>
            <a:prstDash val="solid"/>
          </a:ln>
        </p:spPr>
      </p:sp>
      <p:sp>
        <p:nvSpPr>
          <p:cNvPr id="11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2190F371-5970-4B67-B6F0-F08E5563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481965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REVISE</a:t>
            </a:r>
          </a:p>
        </p:txBody>
      </p:sp>
      <p:sp>
        <p:nvSpPr>
          <p:cNvPr id="12" name="flow-4">
            <a:extLst xmlns:a="http://schemas.openxmlformats.org/drawingml/2006/main">
              <a:ext uri="{FF2B5EF4-FFF2-40B4-BE49-F238E27FC236}">
                <a16:creationId xmlns:a16="http://schemas.microsoft.com/office/drawing/2014/main" id="{27AF9A31-41C0-4D17-8D97-182EF74D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20" y="462915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FFD166"/>
            </a:solidFill>
            <a:prstDash val="solid"/>
          </a:ln>
        </p:spPr>
      </p:sp>
      <p:sp>
        <p:nvSpPr>
          <p:cNvPr id="13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3FD119F4-0959-4929-B37A-CAA70546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820" y="481965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TRANSFER</a:t>
            </a:r>
          </a:p>
        </p:txBody>
      </p:sp>
    </p:spTree>
    <p:extLst>
      <p:ext uri="{BB962C8B-B14F-4D97-AF65-F5344CB8AC3E}">
        <p14:creationId xmlns:p14="http://schemas.microsoft.com/office/powerpoint/2010/main" val="17110343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11E880E7-E322-4DAF-9C57-2DA01F7A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CODING FOUNDATIONS</a:t>
            </a:r>
          </a:p>
        </p:txBody>
      </p:sp>
      <p:sp>
        <p:nvSpPr>
          <p:cNvPr id="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CC568A3-F022-48D5-9697-0124C51D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0D570AC-3BE0-4A3E-B748-DC44B4F3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8D7BB3-4DDE-42C1-AE08-3EFD796F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One Passport follows the whole coding arc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AE1DC6D4-5D7A-4379-96C8-4846EFDF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Students add one checkpoint at a time instead of completing a second coding unit.</a:t>
            </a:r>
          </a:p>
        </p:txBody>
      </p:sp>
      <p:sp>
        <p:nvSpPr>
          <p:cNvPr id="6" name="flow-0">
            <a:extLst xmlns:a="http://schemas.openxmlformats.org/drawingml/2006/main">
              <a:ext uri="{FF2B5EF4-FFF2-40B4-BE49-F238E27FC236}">
                <a16:creationId xmlns:a16="http://schemas.microsoft.com/office/drawing/2014/main" id="{717C9963-C86C-40AF-B779-59C5CF3D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00B8C8"/>
            </a:solidFill>
            <a:prstDash val="solid"/>
          </a:ln>
        </p:spPr>
      </p:sp>
      <p:sp>
        <p:nvSpPr>
          <p:cNvPr id="7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11460E12-1E83-45A2-B706-E1BE545D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1 · DECOMPOSE</a:t>
            </a:r>
          </a:p>
        </p:txBody>
      </p:sp>
      <p:sp>
        <p:nvSpPr>
          <p:cNvPr id="8" name="flow-1">
            <a:extLst xmlns:a="http://schemas.openxmlformats.org/drawingml/2006/main">
              <a:ext uri="{FF2B5EF4-FFF2-40B4-BE49-F238E27FC236}">
                <a16:creationId xmlns:a16="http://schemas.microsoft.com/office/drawing/2014/main" id="{2564A8AF-A41C-4A0C-B18F-C7FB2B34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38125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54B68A"/>
            </a:solidFill>
            <a:prstDash val="solid"/>
          </a:ln>
        </p:spPr>
      </p:sp>
      <p:sp>
        <p:nvSpPr>
          <p:cNvPr id="9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FF95027D-F034-4402-8417-BACC3F50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830" y="257175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2 · PATTERNS</a:t>
            </a:r>
          </a:p>
        </p:txBody>
      </p:sp>
      <p:sp>
        <p:nvSpPr>
          <p:cNvPr id="10" name="flow-2">
            <a:extLst xmlns:a="http://schemas.openxmlformats.org/drawingml/2006/main">
              <a:ext uri="{FF2B5EF4-FFF2-40B4-BE49-F238E27FC236}">
                <a16:creationId xmlns:a16="http://schemas.microsoft.com/office/drawing/2014/main" id="{8BE57A8B-264E-46EC-9980-AD73A2FC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860" y="238125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A970FF"/>
            </a:solidFill>
            <a:prstDash val="solid"/>
          </a:ln>
        </p:spPr>
      </p:sp>
      <p:sp>
        <p:nvSpPr>
          <p:cNvPr id="11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EA33D9C4-1873-4146-B207-CF04CEFF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57175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3 · REVISE</a:t>
            </a:r>
          </a:p>
        </p:txBody>
      </p:sp>
      <p:sp>
        <p:nvSpPr>
          <p:cNvPr id="12" name="flow-3">
            <a:extLst xmlns:a="http://schemas.openxmlformats.org/drawingml/2006/main">
              <a:ext uri="{FF2B5EF4-FFF2-40B4-BE49-F238E27FC236}">
                <a16:creationId xmlns:a16="http://schemas.microsoft.com/office/drawing/2014/main" id="{DD23F535-BB03-4E57-A417-186E7593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238125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FF6FAE"/>
            </a:solidFill>
            <a:prstDash val="solid"/>
          </a:ln>
        </p:spPr>
      </p:sp>
      <p:sp>
        <p:nvSpPr>
          <p:cNvPr id="1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4B6E3D96-D920-499B-BB8F-0D04F870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57175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4 · TEXT CODE</a:t>
            </a:r>
          </a:p>
        </p:txBody>
      </p:sp>
      <p:sp>
        <p:nvSpPr>
          <p:cNvPr id="14" name="flow-4">
            <a:extLst xmlns:a="http://schemas.openxmlformats.org/drawingml/2006/main">
              <a:ext uri="{FF2B5EF4-FFF2-40B4-BE49-F238E27FC236}">
                <a16:creationId xmlns:a16="http://schemas.microsoft.com/office/drawing/2014/main" id="{D27A243D-152D-4D49-A1AD-C452F280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20" y="238125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FFD166"/>
            </a:solidFill>
            <a:prstDash val="solid"/>
          </a:ln>
        </p:spPr>
      </p:sp>
      <p:sp>
        <p:nvSpPr>
          <p:cNvPr id="15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47A37A36-9948-45E3-B7B7-CF183E95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820" y="257175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5 · RVR</a:t>
            </a:r>
          </a:p>
        </p:txBody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1EE6BA9C-C189-4234-AD3E-5EB2C0DC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The planning language stays stable while the programming surface changes.</a:t>
            </a:r>
          </a:p>
        </p:txBody>
      </p:sp>
    </p:spTree>
    <p:extLst>
      <p:ext uri="{BB962C8B-B14F-4D97-AF65-F5344CB8AC3E}">
        <p14:creationId xmlns:p14="http://schemas.microsoft.com/office/powerpoint/2010/main" val="4773508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95A0B296-C84A-4F0D-9717-A2592F0C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PSEUDOCODE LAUNCH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57BA78A1-9760-465C-99B8-24E6687D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DAY 1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38AC6CA-69FE-4746-99D1-9198C16C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D2E537A-D27F-4F0A-A040-835B9CE6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D5D679F-4992-4847-A885-EAA12DB5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Pseudocode must be precise enough to execute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C945A26A-72F9-46C9-877B-AF0E3963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A useful plan removes hidden assumptions without copying programming-language syntax.</a:t>
            </a:r>
          </a:p>
        </p:txBody>
      </p:sp>
      <p:sp>
        <p:nvSpPr>
          <p:cNvPr id="7" name="good">
            <a:extLst xmlns:a="http://schemas.openxmlformats.org/drawingml/2006/main">
              <a:ext uri="{FF2B5EF4-FFF2-40B4-BE49-F238E27FC236}">
                <a16:creationId xmlns:a16="http://schemas.microsoft.com/office/drawing/2014/main" id="{0E121AAA-B870-468E-889C-8276BEC3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76250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54B68A"/>
            </a:solidFill>
            <a:prstDash val="solid"/>
          </a:ln>
        </p:spPr>
      </p:sp>
      <p:sp>
        <p:nvSpPr>
          <p:cNvPr id="8" name="good-heading">
            <a:extLst xmlns:a="http://schemas.openxmlformats.org/drawingml/2006/main">
              <a:ext uri="{FF2B5EF4-FFF2-40B4-BE49-F238E27FC236}">
                <a16:creationId xmlns:a16="http://schemas.microsoft.com/office/drawing/2014/main" id="{B21D8864-166B-4C07-992D-D11B8C57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USE</a:t>
            </a:r>
          </a:p>
        </p:txBody>
      </p:sp>
      <p:sp>
        <p:nvSpPr>
          <p:cNvPr id="9" name="good-body">
            <a:extLst xmlns:a="http://schemas.openxmlformats.org/drawingml/2006/main">
              <a:ext uri="{FF2B5EF4-FFF2-40B4-BE49-F238E27FC236}">
                <a16:creationId xmlns:a16="http://schemas.microsoft.com/office/drawing/2014/main" id="{4384E67F-C24F-4ACA-9959-E1E7CBEF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4343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Short commands</a:t>
            </a:r>
          </a:p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Indent repeated steps</a:t>
            </a:r>
          </a:p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Name variables by purpose</a:t>
            </a:r>
          </a:p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Show decisions and repetition</a:t>
            </a:r>
          </a:p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End where the task is complete</a:t>
            </a:r>
          </a:p>
        </p:txBody>
      </p:sp>
      <p:sp>
        <p:nvSpPr>
          <p:cNvPr id="10" name="avoid">
            <a:extLst xmlns:a="http://schemas.openxmlformats.org/drawingml/2006/main">
              <a:ext uri="{FF2B5EF4-FFF2-40B4-BE49-F238E27FC236}">
                <a16:creationId xmlns:a16="http://schemas.microsoft.com/office/drawing/2014/main" id="{7DF660CA-81BE-42ED-B5DF-B9CDAC7B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95500"/>
            <a:ext cx="476250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FF6FAE"/>
            </a:solidFill>
            <a:prstDash val="solid"/>
          </a:ln>
        </p:spPr>
      </p:sp>
      <p:sp>
        <p:nvSpPr>
          <p:cNvPr id="11" name="avoid-heading">
            <a:extLst xmlns:a="http://schemas.openxmlformats.org/drawingml/2006/main">
              <a:ext uri="{FF2B5EF4-FFF2-40B4-BE49-F238E27FC236}">
                <a16:creationId xmlns:a16="http://schemas.microsoft.com/office/drawing/2014/main" id="{F616A953-107C-40CB-BD28-A68FFD4E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6695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AVOID</a:t>
            </a:r>
          </a:p>
        </p:txBody>
      </p:sp>
      <p:sp>
        <p:nvSpPr>
          <p:cNvPr id="12" name="avoid-body">
            <a:extLst xmlns:a="http://schemas.openxmlformats.org/drawingml/2006/main">
              <a:ext uri="{FF2B5EF4-FFF2-40B4-BE49-F238E27FC236}">
                <a16:creationId xmlns:a16="http://schemas.microsoft.com/office/drawing/2014/main" id="{CB0F411E-69D1-4D7C-904A-7BFC781F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05100"/>
            <a:ext cx="4343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“Make it work”</a:t>
            </a:r>
          </a:p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Unexplained jumps</a:t>
            </a:r>
          </a:p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Directions only the writer understands</a:t>
            </a:r>
          </a:p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Copying blocks without a plan</a:t>
            </a:r>
          </a:p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Decorating before testing</a:t>
            </a:r>
          </a:p>
        </p:txBody>
      </p:sp>
    </p:spTree>
    <p:extLst>
      <p:ext uri="{BB962C8B-B14F-4D97-AF65-F5344CB8AC3E}">
        <p14:creationId xmlns:p14="http://schemas.microsoft.com/office/powerpoint/2010/main" val="553859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0FC3AEA0-240C-40C9-822E-0763E331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PSEUDOCODE LAUNCH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7E300759-C910-4A6C-806D-F8F43274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DAY 1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C516097-DD73-4733-ABBC-C365C4E0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C90FE27-32A1-4018-8C40-BA184030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887BCB5-C5DF-471A-91EC-13468A0B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Break one goal into smaller jobs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5CF87B72-8D9C-41F2-80DE-932FA62F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Complete Passport Checkpoint 1 before opening Code.org.</a:t>
            </a:r>
          </a:p>
        </p:txBody>
      </p:sp>
      <p:sp>
        <p:nvSpPr>
          <p:cNvPr id="7" name="goal">
            <a:extLst xmlns:a="http://schemas.openxmlformats.org/drawingml/2006/main">
              <a:ext uri="{FF2B5EF4-FFF2-40B4-BE49-F238E27FC236}">
                <a16:creationId xmlns:a16="http://schemas.microsoft.com/office/drawing/2014/main" id="{4BB1DCAF-5CD1-4F5E-8C5D-F66E2798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86125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8" name="goal-heading">
            <a:extLst xmlns:a="http://schemas.openxmlformats.org/drawingml/2006/main">
              <a:ext uri="{FF2B5EF4-FFF2-40B4-BE49-F238E27FC236}">
                <a16:creationId xmlns:a16="http://schemas.microsoft.com/office/drawing/2014/main" id="{B50DC44C-94BB-4D38-99EE-DD411B24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867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GOAL</a:t>
            </a:r>
          </a:p>
        </p:txBody>
      </p:sp>
      <p:sp>
        <p:nvSpPr>
          <p:cNvPr id="9" name="goal-body">
            <a:extLst xmlns:a="http://schemas.openxmlformats.org/drawingml/2006/main">
              <a:ext uri="{FF2B5EF4-FFF2-40B4-BE49-F238E27FC236}">
                <a16:creationId xmlns:a16="http://schemas.microsoft.com/office/drawing/2014/main" id="{407FB3A3-D755-472D-B7B9-61295F7C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28670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What must the finished program make happen?</a:t>
            </a:r>
          </a:p>
        </p:txBody>
      </p:sp>
      <p:sp>
        <p:nvSpPr>
          <p:cNvPr id="10" name="io">
            <a:extLst xmlns:a="http://schemas.openxmlformats.org/drawingml/2006/main">
              <a:ext uri="{FF2B5EF4-FFF2-40B4-BE49-F238E27FC236}">
                <a16:creationId xmlns:a16="http://schemas.microsoft.com/office/drawing/2014/main" id="{CECCD921-2751-40AB-B084-8379BC81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86125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A970FF"/>
            </a:solidFill>
            <a:prstDash val="solid"/>
          </a:ln>
        </p:spPr>
      </p:sp>
      <p:sp>
        <p:nvSpPr>
          <p:cNvPr id="11" name="io-heading">
            <a:extLst xmlns:a="http://schemas.openxmlformats.org/drawingml/2006/main">
              <a:ext uri="{FF2B5EF4-FFF2-40B4-BE49-F238E27FC236}">
                <a16:creationId xmlns:a16="http://schemas.microsoft.com/office/drawing/2014/main" id="{1AAF30A7-89B4-434D-A20C-6DB81E0E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2867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INPUT + OUTPUT</a:t>
            </a:r>
          </a:p>
        </p:txBody>
      </p:sp>
      <p:sp>
        <p:nvSpPr>
          <p:cNvPr id="12" name="io-body">
            <a:extLst xmlns:a="http://schemas.openxmlformats.org/drawingml/2006/main">
              <a:ext uri="{FF2B5EF4-FFF2-40B4-BE49-F238E27FC236}">
                <a16:creationId xmlns:a16="http://schemas.microsoft.com/office/drawing/2014/main" id="{BC30D233-761C-4418-AE9C-9D851743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05100"/>
            <a:ext cx="28670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What enters the system?</a:t>
            </a:r>
          </a:p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What should the system produce?</a:t>
            </a:r>
          </a:p>
        </p:txBody>
      </p:sp>
      <p:sp>
        <p:nvSpPr>
          <p:cNvPr id="13" name="subs">
            <a:extLst xmlns:a="http://schemas.openxmlformats.org/drawingml/2006/main">
              <a:ext uri="{FF2B5EF4-FFF2-40B4-BE49-F238E27FC236}">
                <a16:creationId xmlns:a16="http://schemas.microsoft.com/office/drawing/2014/main" id="{922CB64F-64E5-4441-8FB4-5E0580CD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3286125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14" name="subs-heading">
            <a:extLst xmlns:a="http://schemas.openxmlformats.org/drawingml/2006/main">
              <a:ext uri="{FF2B5EF4-FFF2-40B4-BE49-F238E27FC236}">
                <a16:creationId xmlns:a16="http://schemas.microsoft.com/office/drawing/2014/main" id="{F437641C-79B4-4AAB-96B2-679186DD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867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SUBPROBLEMS</a:t>
            </a:r>
          </a:p>
        </p:txBody>
      </p:sp>
      <p:sp>
        <p:nvSpPr>
          <p:cNvPr id="15" name="subs-body">
            <a:extLst xmlns:a="http://schemas.openxmlformats.org/drawingml/2006/main">
              <a:ext uri="{FF2B5EF4-FFF2-40B4-BE49-F238E27FC236}">
                <a16:creationId xmlns:a16="http://schemas.microsoft.com/office/drawing/2014/main" id="{556C3764-6E0B-44F7-B434-C7BD4946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05100"/>
            <a:ext cx="28670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What are the three or more smaller jobs?</a:t>
            </a:r>
          </a:p>
        </p:txBody>
      </p:sp>
      <p:sp>
        <p:nvSpPr>
          <p:cNvPr id="16" name="prompt">
            <a:extLst xmlns:a="http://schemas.openxmlformats.org/drawingml/2006/main">
              <a:ext uri="{FF2B5EF4-FFF2-40B4-BE49-F238E27FC236}">
                <a16:creationId xmlns:a16="http://schemas.microsoft.com/office/drawing/2014/main" id="{35B2BE8D-67C0-4ABF-BE35-E0069D93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If a job is still vague, break it down again.</a:t>
            </a:r>
          </a:p>
        </p:txBody>
      </p:sp>
    </p:spTree>
    <p:extLst>
      <p:ext uri="{BB962C8B-B14F-4D97-AF65-F5344CB8AC3E}">
        <p14:creationId xmlns:p14="http://schemas.microsoft.com/office/powerpoint/2010/main" val="5847132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26F8538C-2A26-4C58-A560-BB60CFDD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PSEUDOCODE LAUNCH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CD9D2A77-C187-4BEA-BD6B-C366B29A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DAY 1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90D2349-ECF6-4B16-99A3-5DEA88E9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C1A50C3-6025-47A4-8B87-FA6D0977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5E5A6EE-5021-49C2-A9A0-D13B1322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Write the route before touching the blocks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2B5F38BE-73A1-4E67-AE6B-A0995AD5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Use commands another person can perform without asking what you meant.</a:t>
            </a:r>
          </a:p>
        </p:txBody>
      </p:sp>
      <p:sp>
        <p:nvSpPr>
          <p:cNvPr id="7" name="pseudo-frame">
            <a:extLst xmlns:a="http://schemas.openxmlformats.org/drawingml/2006/main">
              <a:ext uri="{FF2B5EF4-FFF2-40B4-BE49-F238E27FC236}">
                <a16:creationId xmlns:a16="http://schemas.microsoft.com/office/drawing/2014/main" id="{83611446-5833-4B9B-8BE9-1B6878A0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7101E"/>
          </a:solidFill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8" name="pseudo">
            <a:extLst xmlns:a="http://schemas.openxmlformats.org/drawingml/2006/main">
              <a:ext uri="{FF2B5EF4-FFF2-40B4-BE49-F238E27FC236}">
                <a16:creationId xmlns:a16="http://schemas.microsoft.com/office/drawing/2014/main" id="{8E74A6F3-D18C-49A6-93B1-D74CBAE9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71700"/>
            <a:ext cx="45339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8FFF8"/>
                </a:solidFill>
              </a:defRPr>
            </a:pPr>
            <a:r>
              <a:rPr sz="2025" b="0">
                <a:solidFill>
                  <a:srgbClr val="E8FFF8"/>
                </a:solidFill>
              </a:rPr>
              <a:t>START</a:t>
            </a:r>
          </a:p>
          <a:p xmlns:a="http://schemas.openxmlformats.org/drawingml/2006/main">
            <a:pPr algn="l">
              <a:defRPr sz="2025" b="0">
                <a:solidFill>
                  <a:srgbClr val="E8FFF8"/>
                </a:solidFill>
              </a:defRPr>
            </a:pPr>
            <a:r>
              <a:rPr sz="2025" b="0">
                <a:solidFill>
                  <a:srgbClr val="E8FFF8"/>
                </a:solidFill>
              </a:rPr>
              <a:t>  MOVE forward 2 spaces</a:t>
            </a:r>
          </a:p>
          <a:p xmlns:a="http://schemas.openxmlformats.org/drawingml/2006/main">
            <a:pPr algn="l">
              <a:defRPr sz="2025" b="0">
                <a:solidFill>
                  <a:srgbClr val="E8FFF8"/>
                </a:solidFill>
              </a:defRPr>
            </a:pPr>
            <a:r>
              <a:rPr sz="2025" b="0">
                <a:solidFill>
                  <a:srgbClr val="E8FFF8"/>
                </a:solidFill>
              </a:rPr>
              <a:t>  TURN right</a:t>
            </a:r>
          </a:p>
          <a:p xmlns:a="http://schemas.openxmlformats.org/drawingml/2006/main">
            <a:pPr algn="l">
              <a:defRPr sz="2025" b="0">
                <a:solidFill>
                  <a:srgbClr val="E8FFF8"/>
                </a:solidFill>
              </a:defRPr>
            </a:pPr>
            <a:r>
              <a:rPr sz="2025" b="0">
                <a:solidFill>
                  <a:srgbClr val="E8FFF8"/>
                </a:solidFill>
              </a:rPr>
              <a:t>  REPEAT 3 times</a:t>
            </a:r>
          </a:p>
          <a:p xmlns:a="http://schemas.openxmlformats.org/drawingml/2006/main">
            <a:pPr algn="l">
              <a:defRPr sz="2025" b="0">
                <a:solidFill>
                  <a:srgbClr val="E8FFF8"/>
                </a:solidFill>
              </a:defRPr>
            </a:pPr>
            <a:r>
              <a:rPr sz="2025" b="0">
                <a:solidFill>
                  <a:srgbClr val="E8FFF8"/>
                </a:solidFill>
              </a:rPr>
              <a:t>    MOVE forward 1 space</a:t>
            </a:r>
          </a:p>
          <a:p xmlns:a="http://schemas.openxmlformats.org/drawingml/2006/main">
            <a:pPr algn="l">
              <a:defRPr sz="2025" b="0">
                <a:solidFill>
                  <a:srgbClr val="E8FFF8"/>
                </a:solidFill>
              </a:defRPr>
            </a:pPr>
            <a:r>
              <a:rPr sz="2025" b="0">
                <a:solidFill>
                  <a:srgbClr val="E8FFF8"/>
                </a:solidFill>
              </a:rPr>
              <a:t>  END REPEAT</a:t>
            </a:r>
          </a:p>
          <a:p xmlns:a="http://schemas.openxmlformats.org/drawingml/2006/main">
            <a:pPr algn="l">
              <a:defRPr sz="2025" b="0">
                <a:solidFill>
                  <a:srgbClr val="E8FFF8"/>
                </a:solidFill>
              </a:defRPr>
            </a:pPr>
            <a:r>
              <a:rPr sz="2025" b="0">
                <a:solidFill>
                  <a:srgbClr val="E8FFF8"/>
                </a:solidFill>
              </a:rPr>
              <a:t>END</a:t>
            </a:r>
          </a:p>
        </p:txBody>
      </p:sp>
      <p:sp>
        <p:nvSpPr>
          <p:cNvPr id="9" name="why">
            <a:extLst xmlns:a="http://schemas.openxmlformats.org/drawingml/2006/main">
              <a:ext uri="{FF2B5EF4-FFF2-40B4-BE49-F238E27FC236}">
                <a16:creationId xmlns:a16="http://schemas.microsoft.com/office/drawing/2014/main" id="{37A1CDB9-57FF-42DF-8B60-C7EA0020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0005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10" name="why-heading">
            <a:extLst xmlns:a="http://schemas.openxmlformats.org/drawingml/2006/main">
              <a:ext uri="{FF2B5EF4-FFF2-40B4-BE49-F238E27FC236}">
                <a16:creationId xmlns:a16="http://schemas.microsoft.com/office/drawing/2014/main" id="{FA8ADCB6-70D3-4EBF-B84E-93E67E96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CHECK THE PLAN</a:t>
            </a:r>
          </a:p>
        </p:txBody>
      </p:sp>
      <p:sp>
        <p:nvSpPr>
          <p:cNvPr id="11" name="why-body">
            <a:extLst xmlns:a="http://schemas.openxmlformats.org/drawingml/2006/main">
              <a:ext uri="{FF2B5EF4-FFF2-40B4-BE49-F238E27FC236}">
                <a16:creationId xmlns:a16="http://schemas.microsoft.com/office/drawing/2014/main" id="{758BFE56-9881-400B-9247-B836C3B8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00350"/>
            <a:ext cx="35814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Is every move observable?</a:t>
            </a:r>
          </a:p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Is the repeated group indented?</a:t>
            </a:r>
          </a:p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Could the numbers change?</a:t>
            </a:r>
          </a:p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Where would a variable help?</a:t>
            </a:r>
          </a:p>
        </p:txBody>
      </p:sp>
    </p:spTree>
    <p:extLst>
      <p:ext uri="{BB962C8B-B14F-4D97-AF65-F5344CB8AC3E}">
        <p14:creationId xmlns:p14="http://schemas.microsoft.com/office/powerpoint/2010/main" val="19463902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6F2F0AB1-AE66-4145-BAD8-3A927634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PSEUDOCODE LAUNCH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A0991298-E945-486F-ABAB-AFEECBD7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DAY 1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FA0CB15-79EB-47E8-9300-5B08356B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6403CDF-2448-45CA-9145-400A1B25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92BECCA-5DD6-4A37-BBC0-C250E6BF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Literal testing exposes the missing assumption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1CEDA500-65CC-4555-96DD-CC53D0E1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The partner may follow only the written plan.</a:t>
            </a:r>
          </a:p>
        </p:txBody>
      </p:sp>
      <p:sp>
        <p:nvSpPr>
          <p:cNvPr id="7" name="flow-0">
            <a:extLst xmlns:a="http://schemas.openxmlformats.org/drawingml/2006/main">
              <a:ext uri="{FF2B5EF4-FFF2-40B4-BE49-F238E27FC236}">
                <a16:creationId xmlns:a16="http://schemas.microsoft.com/office/drawing/2014/main" id="{7E285E7B-76FA-4F5E-B6D3-2AC1D396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00B8C8"/>
            </a:solidFill>
            <a:prstDash val="solid"/>
          </a:ln>
        </p:spPr>
      </p:sp>
      <p:sp>
        <p:nvSpPr>
          <p:cNvPr id="8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9BF4BE12-15A6-49CA-B36A-A0BF3A56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READ</a:t>
            </a:r>
          </a:p>
        </p:txBody>
      </p:sp>
      <p:sp>
        <p:nvSpPr>
          <p:cNvPr id="9" name="flow-1">
            <a:extLst xmlns:a="http://schemas.openxmlformats.org/drawingml/2006/main">
              <a:ext uri="{FF2B5EF4-FFF2-40B4-BE49-F238E27FC236}">
                <a16:creationId xmlns:a16="http://schemas.microsoft.com/office/drawing/2014/main" id="{38F0B81B-12EA-45EE-9381-B5C26E0F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19075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54B68A"/>
            </a:solidFill>
            <a:prstDash val="solid"/>
          </a:ln>
        </p:spPr>
      </p:sp>
      <p:sp>
        <p:nvSpPr>
          <p:cNvPr id="10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BA373FB5-40C6-478F-B528-8A4AEAE6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830" y="238125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11" name="flow-2">
            <a:extLst xmlns:a="http://schemas.openxmlformats.org/drawingml/2006/main">
              <a:ext uri="{FF2B5EF4-FFF2-40B4-BE49-F238E27FC236}">
                <a16:creationId xmlns:a16="http://schemas.microsoft.com/office/drawing/2014/main" id="{493BC60B-5F58-4804-8594-FA20D167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860" y="219075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A970FF"/>
            </a:solidFill>
            <a:prstDash val="solid"/>
          </a:ln>
        </p:spPr>
      </p:sp>
      <p:sp>
        <p:nvSpPr>
          <p:cNvPr id="12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50F0F2F5-340A-46DD-AABA-0A74D6C1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38125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STOP AT CONFUSION</a:t>
            </a:r>
          </a:p>
        </p:txBody>
      </p:sp>
      <p:sp>
        <p:nvSpPr>
          <p:cNvPr id="13" name="flow-3">
            <a:extLst xmlns:a="http://schemas.openxmlformats.org/drawingml/2006/main">
              <a:ext uri="{FF2B5EF4-FFF2-40B4-BE49-F238E27FC236}">
                <a16:creationId xmlns:a16="http://schemas.microsoft.com/office/drawing/2014/main" id="{666555D2-0605-4A61-87A3-689044AE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219075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FF6FAE"/>
            </a:solidFill>
            <a:prstDash val="solid"/>
          </a:ln>
        </p:spPr>
      </p:sp>
      <p:sp>
        <p:nvSpPr>
          <p:cNvPr id="14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85E2F46C-D545-4222-8547-EEEB7524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38125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MARK THE LINE</a:t>
            </a:r>
          </a:p>
        </p:txBody>
      </p:sp>
      <p:sp>
        <p:nvSpPr>
          <p:cNvPr id="15" name="flow-4">
            <a:extLst xmlns:a="http://schemas.openxmlformats.org/drawingml/2006/main">
              <a:ext uri="{FF2B5EF4-FFF2-40B4-BE49-F238E27FC236}">
                <a16:creationId xmlns:a16="http://schemas.microsoft.com/office/drawing/2014/main" id="{BEEFC357-7D13-48EC-AC31-9EEB6440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20" y="219075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FFD166"/>
            </a:solidFill>
            <a:prstDash val="solid"/>
          </a:ln>
        </p:spPr>
      </p:sp>
      <p:sp>
        <p:nvSpPr>
          <p:cNvPr id="16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8654894E-FA97-4666-9BAE-B11788AE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820" y="238125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REVISE</a:t>
            </a:r>
          </a:p>
        </p:txBody>
      </p:sp>
      <p:sp>
        <p:nvSpPr>
          <p:cNvPr id="17" name="stem">
            <a:extLst xmlns:a="http://schemas.openxmlformats.org/drawingml/2006/main">
              <a:ext uri="{FF2B5EF4-FFF2-40B4-BE49-F238E27FC236}">
                <a16:creationId xmlns:a16="http://schemas.microsoft.com/office/drawing/2014/main" id="{0819668C-32E3-4AF9-A9CB-642B975D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BE8"/>
                </a:solidFill>
              </a:defRPr>
            </a:pPr>
            <a:r>
              <a:rPr sz="2250" b="1">
                <a:solidFill>
                  <a:srgbClr val="FFFBE8"/>
                </a:solidFill>
              </a:rPr>
              <a:t>“I stopped at ______ because the plan did not say ______.”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BBA54F13-8900-4CD5-B4ED-EE2B97E6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053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FC1D6"/>
                </a:solidFill>
              </a:defRPr>
            </a:pPr>
            <a:r>
              <a:rPr sz="1650" b="0">
                <a:solidFill>
                  <a:srgbClr val="AFC1D6"/>
                </a:solidFill>
              </a:rPr>
              <a:t>Do not explain the missing step until your partner marks it.</a:t>
            </a:r>
          </a:p>
        </p:txBody>
      </p:sp>
    </p:spTree>
    <p:extLst>
      <p:ext uri="{BB962C8B-B14F-4D97-AF65-F5344CB8AC3E}">
        <p14:creationId xmlns:p14="http://schemas.microsoft.com/office/powerpoint/2010/main" val="16350746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29593A5E-C44E-42FB-85C0-30F1089D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PATTERNS AND VARIABLES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8A94CB64-FEB3-45F0-BB9D-681409EE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DAY 2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2BFF34E-4756-457E-996F-1B249F3D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2333F78-14BD-4B47-80AA-596E1699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2A85766-807A-49E6-9DC9-7B22FF7E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Name the repeated pattern before using a loop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110D12A6-2B42-4DBC-AB70-01672E1D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Complete Passport Checkpoint 2 during Intro to CS Day 2.</a:t>
            </a:r>
          </a:p>
        </p:txBody>
      </p:sp>
      <p:sp>
        <p:nvSpPr>
          <p:cNvPr id="7" name="pattern-frame">
            <a:extLst xmlns:a="http://schemas.openxmlformats.org/drawingml/2006/main">
              <a:ext uri="{FF2B5EF4-FFF2-40B4-BE49-F238E27FC236}">
                <a16:creationId xmlns:a16="http://schemas.microsoft.com/office/drawing/2014/main" id="{F05B3CEB-A330-45E7-ABF3-0714237B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191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7101E"/>
          </a:solidFill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8" name="pattern">
            <a:extLst xmlns:a="http://schemas.openxmlformats.org/drawingml/2006/main">
              <a:ext uri="{FF2B5EF4-FFF2-40B4-BE49-F238E27FC236}">
                <a16:creationId xmlns:a16="http://schemas.microsoft.com/office/drawing/2014/main" id="{3895CF5F-28ED-4C0C-AF2D-68C880EA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37719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8FFF8"/>
                </a:solidFill>
              </a:defRPr>
            </a:pPr>
            <a:r>
              <a:rPr sz="1875" b="0">
                <a:solidFill>
                  <a:srgbClr val="E8FFF8"/>
                </a:solidFill>
              </a:rPr>
              <a:t>MOVE forward</a:t>
            </a:r>
          </a:p>
          <a:p xmlns:a="http://schemas.openxmlformats.org/drawingml/2006/main">
            <a:pPr algn="l">
              <a:defRPr sz="1875" b="0">
                <a:solidFill>
                  <a:srgbClr val="E8FFF8"/>
                </a:solidFill>
              </a:defRPr>
            </a:pPr>
            <a:r>
              <a:rPr sz="1875" b="0">
                <a:solidFill>
                  <a:srgbClr val="E8FFF8"/>
                </a:solidFill>
              </a:rPr>
              <a:t>TURN right</a:t>
            </a:r>
          </a:p>
          <a:p xmlns:a="http://schemas.openxmlformats.org/drawingml/2006/main">
            <a:pPr algn="l">
              <a:defRPr sz="1875" b="0">
                <a:solidFill>
                  <a:srgbClr val="E8FFF8"/>
                </a:solidFill>
              </a:defRPr>
            </a:pPr>
            <a:r>
              <a:rPr sz="1875" b="0">
                <a:solidFill>
                  <a:srgbClr val="E8FFF8"/>
                </a:solidFill>
              </a:rPr>
              <a:t>MOVE forward</a:t>
            </a:r>
          </a:p>
          <a:p xmlns:a="http://schemas.openxmlformats.org/drawingml/2006/main">
            <a:pPr algn="l">
              <a:defRPr sz="1875" b="0">
                <a:solidFill>
                  <a:srgbClr val="E8FFF8"/>
                </a:solidFill>
              </a:defRPr>
            </a:pPr>
            <a:r>
              <a:rPr sz="1875" b="0">
                <a:solidFill>
                  <a:srgbClr val="E8FFF8"/>
                </a:solidFill>
              </a:rPr>
              <a:t>TURN right</a:t>
            </a:r>
          </a:p>
          <a:p xmlns:a="http://schemas.openxmlformats.org/drawingml/2006/main">
            <a:pPr algn="l">
              <a:defRPr sz="1875" b="0">
                <a:solidFill>
                  <a:srgbClr val="E8FFF8"/>
                </a:solidFill>
              </a:defRPr>
            </a:pPr>
            <a:r>
              <a:rPr sz="1875" b="0">
                <a:solidFill>
                  <a:srgbClr val="E8FFF8"/>
                </a:solidFill>
              </a:rPr>
              <a:t>MOVE forward</a:t>
            </a:r>
          </a:p>
          <a:p xmlns:a="http://schemas.openxmlformats.org/drawingml/2006/main">
            <a:pPr algn="l">
              <a:defRPr sz="1875" b="0">
                <a:solidFill>
                  <a:srgbClr val="E8FFF8"/>
                </a:solidFill>
              </a:defRPr>
            </a:pPr>
            <a:r>
              <a:rPr sz="1875" b="0">
                <a:solidFill>
                  <a:srgbClr val="E8FFF8"/>
                </a:solidFill>
              </a:rPr>
              <a:t>TURN right</a:t>
            </a:r>
          </a:p>
        </p:txBody>
      </p:sp>
      <p:sp>
        <p:nvSpPr>
          <p:cNvPr id="9" name="loop-frame">
            <a:extLst xmlns:a="http://schemas.openxmlformats.org/drawingml/2006/main">
              <a:ext uri="{FF2B5EF4-FFF2-40B4-BE49-F238E27FC236}">
                <a16:creationId xmlns:a16="http://schemas.microsoft.com/office/drawing/2014/main" id="{938C48AC-1842-4741-A8F5-B30E34C5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3714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7101E"/>
          </a:solidFill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10" name="loop">
            <a:extLst xmlns:a="http://schemas.openxmlformats.org/drawingml/2006/main">
              <a:ext uri="{FF2B5EF4-FFF2-40B4-BE49-F238E27FC236}">
                <a16:creationId xmlns:a16="http://schemas.microsoft.com/office/drawing/2014/main" id="{ACA2F221-D34D-4414-B014-0218C27F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47950"/>
            <a:ext cx="32956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8FFF8"/>
                </a:solidFill>
              </a:defRPr>
            </a:pPr>
            <a:r>
              <a:rPr sz="2025" b="0">
                <a:solidFill>
                  <a:srgbClr val="E8FFF8"/>
                </a:solidFill>
              </a:rPr>
              <a:t>REPEAT 3 times</a:t>
            </a:r>
          </a:p>
          <a:p xmlns:a="http://schemas.openxmlformats.org/drawingml/2006/main">
            <a:pPr algn="l">
              <a:defRPr sz="2025" b="0">
                <a:solidFill>
                  <a:srgbClr val="E8FFF8"/>
                </a:solidFill>
              </a:defRPr>
            </a:pPr>
            <a:r>
              <a:rPr sz="2025" b="0">
                <a:solidFill>
                  <a:srgbClr val="E8FFF8"/>
                </a:solidFill>
              </a:rPr>
              <a:t>  MOVE forward</a:t>
            </a:r>
          </a:p>
          <a:p xmlns:a="http://schemas.openxmlformats.org/drawingml/2006/main">
            <a:pPr algn="l">
              <a:defRPr sz="2025" b="0">
                <a:solidFill>
                  <a:srgbClr val="E8FFF8"/>
                </a:solidFill>
              </a:defRPr>
            </a:pPr>
            <a:r>
              <a:rPr sz="2025" b="0">
                <a:solidFill>
                  <a:srgbClr val="E8FFF8"/>
                </a:solidFill>
              </a:rPr>
              <a:t>  TURN right</a:t>
            </a:r>
          </a:p>
          <a:p xmlns:a="http://schemas.openxmlformats.org/drawingml/2006/main">
            <a:pPr algn="l">
              <a:defRPr sz="2025" b="0">
                <a:solidFill>
                  <a:srgbClr val="E8FFF8"/>
                </a:solidFill>
              </a:defRPr>
            </a:pPr>
            <a:r>
              <a:rPr sz="2025" b="0">
                <a:solidFill>
                  <a:srgbClr val="E8FFF8"/>
                </a:solidFill>
              </a:rPr>
              <a:t>END REPEAT</a:t>
            </a:r>
          </a:p>
        </p:txBody>
      </p:sp>
      <p:sp>
        <p:nvSpPr>
          <p:cNvPr id="11" name="arrow">
            <a:extLst xmlns:a="http://schemas.openxmlformats.org/drawingml/2006/main">
              <a:ext uri="{FF2B5EF4-FFF2-40B4-BE49-F238E27FC236}">
                <a16:creationId xmlns:a16="http://schemas.microsoft.com/office/drawing/2014/main" id="{E5DB8D79-789B-456D-883F-4B6EC536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480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D166"/>
                </a:solidFill>
              </a:defRPr>
            </a:pPr>
            <a:r>
              <a:rPr sz="4050" b="1">
                <a:solidFill>
                  <a:srgbClr val="FFD166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1125178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884E60B5-DDB4-4966-B8DF-CEE2C01F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PATTERNS AND VARIABLES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75B7E0C3-AA27-4B22-9501-FF2C09F6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DAY 2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1E248E3-3B02-44F9-B216-06514039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AB6EC46-23EC-4901-894A-FFF891F9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8013309-F0E0-4E04-920F-E2724075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Variables give changing details useful names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15B1A957-95EC-4FC7-8A4C-B448A08C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Record a name, type, starting value, and operation in the Passport.</a:t>
            </a:r>
          </a:p>
        </p:txBody>
      </p:sp>
      <p:sp>
        <p:nvSpPr>
          <p:cNvPr id="7" name="num">
            <a:extLst xmlns:a="http://schemas.openxmlformats.org/drawingml/2006/main">
              <a:ext uri="{FF2B5EF4-FFF2-40B4-BE49-F238E27FC236}">
                <a16:creationId xmlns:a16="http://schemas.microsoft.com/office/drawing/2014/main" id="{7497770E-4E6B-4F81-BF40-38D571AC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33375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8" name="num-heading">
            <a:extLst xmlns:a="http://schemas.openxmlformats.org/drawingml/2006/main">
              <a:ext uri="{FF2B5EF4-FFF2-40B4-BE49-F238E27FC236}">
                <a16:creationId xmlns:a16="http://schemas.microsoft.com/office/drawing/2014/main" id="{3177D1FF-66F2-4A8C-BB49-F95420B1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NUMBER</a:t>
            </a:r>
          </a:p>
        </p:txBody>
      </p:sp>
      <p:sp>
        <p:nvSpPr>
          <p:cNvPr id="9" name="num-body">
            <a:extLst xmlns:a="http://schemas.openxmlformats.org/drawingml/2006/main">
              <a:ext uri="{FF2B5EF4-FFF2-40B4-BE49-F238E27FC236}">
                <a16:creationId xmlns:a16="http://schemas.microsoft.com/office/drawing/2014/main" id="{30C6CE78-64CA-4AD2-BFAD-EEF4D9A5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9146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boxesRemaining = 12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rows = 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columns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Operations: +  −  ×  ÷</a:t>
            </a:r>
          </a:p>
        </p:txBody>
      </p:sp>
      <p:sp>
        <p:nvSpPr>
          <p:cNvPr id="10" name="str">
            <a:extLst xmlns:a="http://schemas.openxmlformats.org/drawingml/2006/main">
              <a:ext uri="{FF2B5EF4-FFF2-40B4-BE49-F238E27FC236}">
                <a16:creationId xmlns:a16="http://schemas.microsoft.com/office/drawing/2014/main" id="{613E3AA7-959D-4417-9418-A81A3CC9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A970FF"/>
            </a:solidFill>
            <a:prstDash val="solid"/>
          </a:ln>
        </p:spPr>
      </p:sp>
      <p:sp>
        <p:nvSpPr>
          <p:cNvPr id="11" name="str-heading">
            <a:extLst xmlns:a="http://schemas.openxmlformats.org/drawingml/2006/main">
              <a:ext uri="{FF2B5EF4-FFF2-40B4-BE49-F238E27FC236}">
                <a16:creationId xmlns:a16="http://schemas.microsoft.com/office/drawing/2014/main" id="{CA661F85-CCEE-4F08-B91F-0CCE394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669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STRING</a:t>
            </a:r>
          </a:p>
        </p:txBody>
      </p:sp>
      <p:sp>
        <p:nvSpPr>
          <p:cNvPr id="12" name="str-body">
            <a:extLst xmlns:a="http://schemas.openxmlformats.org/drawingml/2006/main">
              <a:ext uri="{FF2B5EF4-FFF2-40B4-BE49-F238E27FC236}">
                <a16:creationId xmlns:a16="http://schemas.microsoft.com/office/drawing/2014/main" id="{36409D92-E049-4C8E-B14D-C4817D5A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05100"/>
            <a:ext cx="29146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missionName =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“Emergency Supply Grid”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Operation: join text</a:t>
            </a:r>
          </a:p>
        </p:txBody>
      </p:sp>
      <p:sp>
        <p:nvSpPr>
          <p:cNvPr id="13" name="bool">
            <a:extLst xmlns:a="http://schemas.openxmlformats.org/drawingml/2006/main">
              <a:ext uri="{FF2B5EF4-FFF2-40B4-BE49-F238E27FC236}">
                <a16:creationId xmlns:a16="http://schemas.microsoft.com/office/drawing/2014/main" id="{72ABCA98-8640-437A-8064-E94AE459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33375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14" name="bool-heading">
            <a:extLst xmlns:a="http://schemas.openxmlformats.org/drawingml/2006/main">
              <a:ext uri="{FF2B5EF4-FFF2-40B4-BE49-F238E27FC236}">
                <a16:creationId xmlns:a16="http://schemas.microsoft.com/office/drawing/2014/main" id="{6805C5A4-6163-48AE-B21D-D0F02ABD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BOOLEAN</a:t>
            </a:r>
          </a:p>
        </p:txBody>
      </p:sp>
      <p:sp>
        <p:nvSpPr>
          <p:cNvPr id="15" name="bool-body">
            <a:extLst xmlns:a="http://schemas.openxmlformats.org/drawingml/2006/main">
              <a:ext uri="{FF2B5EF4-FFF2-40B4-BE49-F238E27FC236}">
                <a16:creationId xmlns:a16="http://schemas.microsoft.com/office/drawing/2014/main" id="{AC1F387C-5D83-41DB-B196-D3C0B0C1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05100"/>
            <a:ext cx="29146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priorityMode = true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carryingBox =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Operations: AND, OR, NOT</a:t>
            </a:r>
          </a:p>
        </p:txBody>
      </p:sp>
    </p:spTree>
    <p:extLst>
      <p:ext uri="{BB962C8B-B14F-4D97-AF65-F5344CB8AC3E}">
        <p14:creationId xmlns:p14="http://schemas.microsoft.com/office/powerpoint/2010/main" val="1214774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AF3C9A0B-42AC-41EB-86D5-74EC1353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PATTERNS AND VARIABLES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4BB82CAB-15DE-4732-9B51-B0CF8B59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DAY 2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1B82B68-3FE1-4CD1-835B-F262B023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234D16D-9BC1-49D0-8705-2DCF6BDE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1874A3F-903F-4773-AB64-9E7D5D77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Abstraction turns one route into a reusable procedure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C5FBD9DE-9BBA-4B5B-A6A2-AA31BD57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Keep the repeated idea; replace the details that may change.</a:t>
            </a:r>
          </a:p>
        </p:txBody>
      </p:sp>
      <p:sp>
        <p:nvSpPr>
          <p:cNvPr id="7" name="specific-frame">
            <a:extLst xmlns:a="http://schemas.openxmlformats.org/drawingml/2006/main">
              <a:ext uri="{FF2B5EF4-FFF2-40B4-BE49-F238E27FC236}">
                <a16:creationId xmlns:a16="http://schemas.microsoft.com/office/drawing/2014/main" id="{B8809B4D-15C7-402D-B9DD-86CF143E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000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7101E"/>
          </a:solidFill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8" name="specific">
            <a:extLst xmlns:a="http://schemas.openxmlformats.org/drawingml/2006/main">
              <a:ext uri="{FF2B5EF4-FFF2-40B4-BE49-F238E27FC236}">
                <a16:creationId xmlns:a16="http://schemas.microsoft.com/office/drawing/2014/main" id="{197EB03E-DD29-4140-B720-2AE97858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3581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8FFF8"/>
                </a:solidFill>
              </a:defRPr>
            </a:pPr>
            <a:r>
              <a:rPr sz="2100" b="0">
                <a:solidFill>
                  <a:srgbClr val="E8FFF8"/>
                </a:solidFill>
              </a:rPr>
              <a:t>MOVE 4 spaces</a:t>
            </a:r>
          </a:p>
          <a:p xmlns:a="http://schemas.openxmlformats.org/drawingml/2006/main">
            <a:pPr algn="l">
              <a:defRPr sz="2100" b="0">
                <a:solidFill>
                  <a:srgbClr val="E8FFF8"/>
                </a:solidFill>
              </a:defRPr>
            </a:pPr>
            <a:r>
              <a:rPr sz="2100" b="0">
                <a:solidFill>
                  <a:srgbClr val="E8FFF8"/>
                </a:solidFill>
              </a:rPr>
              <a:t>TURN right</a:t>
            </a:r>
          </a:p>
          <a:p xmlns:a="http://schemas.openxmlformats.org/drawingml/2006/main">
            <a:pPr algn="l">
              <a:defRPr sz="2100" b="0">
                <a:solidFill>
                  <a:srgbClr val="E8FFF8"/>
                </a:solidFill>
              </a:defRPr>
            </a:pPr>
            <a:r>
              <a:rPr sz="2100" b="0">
                <a:solidFill>
                  <a:srgbClr val="E8FFF8"/>
                </a:solidFill>
              </a:rPr>
              <a:t>MOVE 4 spaces</a:t>
            </a:r>
          </a:p>
        </p:txBody>
      </p:sp>
      <p:sp>
        <p:nvSpPr>
          <p:cNvPr id="9" name="general-frame">
            <a:extLst xmlns:a="http://schemas.openxmlformats.org/drawingml/2006/main">
              <a:ext uri="{FF2B5EF4-FFF2-40B4-BE49-F238E27FC236}">
                <a16:creationId xmlns:a16="http://schemas.microsoft.com/office/drawing/2014/main" id="{DF8DC5EA-2E83-4C12-A4B3-4B094D15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7101E"/>
          </a:solidFill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10" name="general">
            <a:extLst xmlns:a="http://schemas.openxmlformats.org/drawingml/2006/main">
              <a:ext uri="{FF2B5EF4-FFF2-40B4-BE49-F238E27FC236}">
                <a16:creationId xmlns:a16="http://schemas.microsoft.com/office/drawing/2014/main" id="{C2580DC7-292A-435D-893C-4EE41483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47244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FFF8"/>
                </a:solidFill>
              </a:defRPr>
            </a:pPr>
            <a:r>
              <a:rPr sz="1650" b="0">
                <a:solidFill>
                  <a:srgbClr val="E8FFF8"/>
                </a:solidFill>
              </a:rPr>
              <a:t>PROCEDURE moveAndTurn(distance, direction)</a:t>
            </a:r>
          </a:p>
          <a:p xmlns:a="http://schemas.openxmlformats.org/drawingml/2006/main">
            <a:pPr algn="l">
              <a:defRPr sz="1650" b="0">
                <a:solidFill>
                  <a:srgbClr val="E8FFF8"/>
                </a:solidFill>
              </a:defRPr>
            </a:pPr>
            <a:r>
              <a:rPr sz="1650" b="0">
                <a:solidFill>
                  <a:srgbClr val="E8FFF8"/>
                </a:solidFill>
              </a:rPr>
              <a:t>  MOVE distance spaces</a:t>
            </a:r>
          </a:p>
          <a:p xmlns:a="http://schemas.openxmlformats.org/drawingml/2006/main">
            <a:pPr algn="l">
              <a:defRPr sz="1650" b="0">
                <a:solidFill>
                  <a:srgbClr val="E8FFF8"/>
                </a:solidFill>
              </a:defRPr>
            </a:pPr>
            <a:r>
              <a:rPr sz="1650" b="0">
                <a:solidFill>
                  <a:srgbClr val="E8FFF8"/>
                </a:solidFill>
              </a:rPr>
              <a:t>  TURN direction</a:t>
            </a:r>
          </a:p>
          <a:p xmlns:a="http://schemas.openxmlformats.org/drawingml/2006/main">
            <a:pPr algn="l">
              <a:defRPr sz="1650" b="0">
                <a:solidFill>
                  <a:srgbClr val="E8FFF8"/>
                </a:solidFill>
              </a:defRPr>
            </a:pPr>
            <a:r>
              <a:rPr sz="1650" b="0">
                <a:solidFill>
                  <a:srgbClr val="E8FFF8"/>
                </a:solidFill>
              </a:rPr>
              <a:t>END PROCEDURE</a:t>
            </a:r>
          </a:p>
        </p:txBody>
      </p:sp>
      <p:sp>
        <p:nvSpPr>
          <p:cNvPr id="11" name="transfer">
            <a:extLst xmlns:a="http://schemas.openxmlformats.org/drawingml/2006/main">
              <a:ext uri="{FF2B5EF4-FFF2-40B4-BE49-F238E27FC236}">
                <a16:creationId xmlns:a16="http://schemas.microsoft.com/office/drawing/2014/main" id="{520164C5-0A44-4ACC-AB24-30DA7871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BE8"/>
                </a:solidFill>
              </a:defRPr>
            </a:pPr>
            <a:r>
              <a:rPr sz="2100" b="1">
                <a:solidFill>
                  <a:srgbClr val="FFFBE8"/>
                </a:solidFill>
              </a:rPr>
              <a:t>Now the same plan can solve more than one route.</a:t>
            </a:r>
          </a:p>
        </p:txBody>
      </p:sp>
    </p:spTree>
    <p:extLst>
      <p:ext uri="{BB962C8B-B14F-4D97-AF65-F5344CB8AC3E}">
        <p14:creationId xmlns:p14="http://schemas.microsoft.com/office/powerpoint/2010/main" val="18953058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996BB848-6814-433C-9DBF-CBABC4A2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TEST AND REVISE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DEF70A40-CC92-48EC-8F55-363D7A93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DAY 3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0284338-4858-423D-9276-2C77F456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327AEDE-ABDB-4DF9-B3AB-3122ACC6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442458A-8B99-49AF-9386-8DBBAF2C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Predict before pressing Run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00AA904F-8C09-43FC-84B3-533B46DA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Complete the prediction column before the program produces evidence.</a:t>
            </a:r>
          </a:p>
        </p:txBody>
      </p:sp>
      <p:sp>
        <p:nvSpPr>
          <p:cNvPr id="7" name="flow-0">
            <a:extLst xmlns:a="http://schemas.openxmlformats.org/drawingml/2006/main">
              <a:ext uri="{FF2B5EF4-FFF2-40B4-BE49-F238E27FC236}">
                <a16:creationId xmlns:a16="http://schemas.microsoft.com/office/drawing/2014/main" id="{CC1811D9-1AF3-4926-B3DC-AE07520C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00B8C8"/>
            </a:solidFill>
            <a:prstDash val="solid"/>
          </a:ln>
        </p:spPr>
      </p:sp>
      <p:sp>
        <p:nvSpPr>
          <p:cNvPr id="8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D762B8E0-85A8-4A0E-A5CA-E3881CA5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PREDICT</a:t>
            </a:r>
          </a:p>
        </p:txBody>
      </p:sp>
      <p:sp>
        <p:nvSpPr>
          <p:cNvPr id="9" name="flow-1">
            <a:extLst xmlns:a="http://schemas.openxmlformats.org/drawingml/2006/main">
              <a:ext uri="{FF2B5EF4-FFF2-40B4-BE49-F238E27FC236}">
                <a16:creationId xmlns:a16="http://schemas.microsoft.com/office/drawing/2014/main" id="{8E54D778-59F9-4AC7-B380-912C8D76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19075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54B68A"/>
            </a:solidFill>
            <a:prstDash val="solid"/>
          </a:ln>
        </p:spPr>
      </p:sp>
      <p:sp>
        <p:nvSpPr>
          <p:cNvPr id="10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004A5ED8-6BD4-49C6-BDD2-22E3C2D6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830" y="238125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RUN</a:t>
            </a:r>
          </a:p>
        </p:txBody>
      </p:sp>
      <p:sp>
        <p:nvSpPr>
          <p:cNvPr id="11" name="flow-2">
            <a:extLst xmlns:a="http://schemas.openxmlformats.org/drawingml/2006/main">
              <a:ext uri="{FF2B5EF4-FFF2-40B4-BE49-F238E27FC236}">
                <a16:creationId xmlns:a16="http://schemas.microsoft.com/office/drawing/2014/main" id="{5D36CE59-A300-4CE2-BC67-DE969AB3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860" y="219075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A970FF"/>
            </a:solidFill>
            <a:prstDash val="solid"/>
          </a:ln>
        </p:spPr>
      </p:sp>
      <p:sp>
        <p:nvSpPr>
          <p:cNvPr id="12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B1DDB1CA-5A55-40CC-99A5-18484152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38125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3" name="flow-3">
            <a:extLst xmlns:a="http://schemas.openxmlformats.org/drawingml/2006/main">
              <a:ext uri="{FF2B5EF4-FFF2-40B4-BE49-F238E27FC236}">
                <a16:creationId xmlns:a16="http://schemas.microsoft.com/office/drawing/2014/main" id="{E7084C2D-4B63-4AC7-9D71-3BA5E3F8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219075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FF6FAE"/>
            </a:solidFill>
            <a:prstDash val="solid"/>
          </a:ln>
        </p:spPr>
      </p:sp>
      <p:sp>
        <p:nvSpPr>
          <p:cNvPr id="14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D10B4E68-F640-4BFB-BB2B-8667521B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38125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CHANGE ONE THING</a:t>
            </a:r>
          </a:p>
        </p:txBody>
      </p:sp>
      <p:sp>
        <p:nvSpPr>
          <p:cNvPr id="15" name="flow-4">
            <a:extLst xmlns:a="http://schemas.openxmlformats.org/drawingml/2006/main">
              <a:ext uri="{FF2B5EF4-FFF2-40B4-BE49-F238E27FC236}">
                <a16:creationId xmlns:a16="http://schemas.microsoft.com/office/drawing/2014/main" id="{3CC34E4A-1C40-4113-A3A3-614FBD6F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20" y="219075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FFD166"/>
            </a:solidFill>
            <a:prstDash val="solid"/>
          </a:ln>
        </p:spPr>
      </p:sp>
      <p:sp>
        <p:nvSpPr>
          <p:cNvPr id="16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CFC0BBA6-37B3-45F7-9330-FFE47E9F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820" y="238125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RUN AGAIN</a:t>
            </a:r>
          </a:p>
        </p:txBody>
      </p:sp>
      <p:sp>
        <p:nvSpPr>
          <p:cNvPr id="17" name="question">
            <a:extLst xmlns:a="http://schemas.openxmlformats.org/drawingml/2006/main">
              <a:ext uri="{FF2B5EF4-FFF2-40B4-BE49-F238E27FC236}">
                <a16:creationId xmlns:a16="http://schemas.microsoft.com/office/drawing/2014/main" id="{D7884197-457A-452C-8319-B9A2B4D7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1009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What do you expect the computer to do—and which instruction should cause it?</a:t>
            </a:r>
          </a:p>
        </p:txBody>
      </p:sp>
    </p:spTree>
    <p:extLst>
      <p:ext uri="{BB962C8B-B14F-4D97-AF65-F5344CB8AC3E}">
        <p14:creationId xmlns:p14="http://schemas.microsoft.com/office/powerpoint/2010/main" val="531682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A1F80969-BC19-4B70-8FC2-AAC17462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TEST AND REVISE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0010FE44-B23A-4A83-9D6F-33F1C530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DAY 3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2285304-CB8C-4D09-8C88-DCA6D063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C5932DC-3657-430A-96D1-55243DEC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8390C29-1044-4734-A7C2-E95AB79A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One controlled change makes the result explainable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8967F826-0609-40E2-9C6C-1531036E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The evidence must connect a cause to an observed effect.</a:t>
            </a:r>
          </a:p>
        </p:txBody>
      </p:sp>
      <p:sp>
        <p:nvSpPr>
          <p:cNvPr id="7" name="predict">
            <a:extLst xmlns:a="http://schemas.openxmlformats.org/drawingml/2006/main">
              <a:ext uri="{FF2B5EF4-FFF2-40B4-BE49-F238E27FC236}">
                <a16:creationId xmlns:a16="http://schemas.microsoft.com/office/drawing/2014/main" id="{E226B9DF-AD30-43DF-B058-227DA803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428875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8" name="predict-heading">
            <a:extLst xmlns:a="http://schemas.openxmlformats.org/drawingml/2006/main">
              <a:ext uri="{FF2B5EF4-FFF2-40B4-BE49-F238E27FC236}">
                <a16:creationId xmlns:a16="http://schemas.microsoft.com/office/drawing/2014/main" id="{962AA5A0-100F-4515-B303-829CC4BB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PREDICTION</a:t>
            </a:r>
          </a:p>
        </p:txBody>
      </p:sp>
      <p:sp>
        <p:nvSpPr>
          <p:cNvPr id="9" name="predict-body">
            <a:extLst xmlns:a="http://schemas.openxmlformats.org/drawingml/2006/main">
              <a:ext uri="{FF2B5EF4-FFF2-40B4-BE49-F238E27FC236}">
                <a16:creationId xmlns:a16="http://schemas.microsoft.com/office/drawing/2014/main" id="{9D67F2B4-54D1-4569-9E4E-F36DD5E8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009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What should happen?</a:t>
            </a:r>
          </a:p>
        </p:txBody>
      </p:sp>
      <p:sp>
        <p:nvSpPr>
          <p:cNvPr id="10" name="observe">
            <a:extLst xmlns:a="http://schemas.openxmlformats.org/drawingml/2006/main">
              <a:ext uri="{FF2B5EF4-FFF2-40B4-BE49-F238E27FC236}">
                <a16:creationId xmlns:a16="http://schemas.microsoft.com/office/drawing/2014/main" id="{F98BDC18-64A7-4714-BB3F-83720721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2428875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A970FF"/>
            </a:solidFill>
            <a:prstDash val="solid"/>
          </a:ln>
        </p:spPr>
      </p:sp>
      <p:sp>
        <p:nvSpPr>
          <p:cNvPr id="11" name="observe-heading">
            <a:extLst xmlns:a="http://schemas.openxmlformats.org/drawingml/2006/main">
              <a:ext uri="{FF2B5EF4-FFF2-40B4-BE49-F238E27FC236}">
                <a16:creationId xmlns:a16="http://schemas.microsoft.com/office/drawing/2014/main" id="{2517313D-6BA8-4D18-A8A9-797EEB21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266950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OBSERVED</a:t>
            </a:r>
          </a:p>
        </p:txBody>
      </p:sp>
      <p:sp>
        <p:nvSpPr>
          <p:cNvPr id="12" name="observe-body">
            <a:extLst xmlns:a="http://schemas.openxmlformats.org/drawingml/2006/main">
              <a:ext uri="{FF2B5EF4-FFF2-40B4-BE49-F238E27FC236}">
                <a16:creationId xmlns:a16="http://schemas.microsoft.com/office/drawing/2014/main" id="{5CEF8A51-EA4D-4E55-9D9D-90C2659E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705100"/>
            <a:ext cx="2009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What actually happened?</a:t>
            </a:r>
          </a:p>
        </p:txBody>
      </p:sp>
      <p:sp>
        <p:nvSpPr>
          <p:cNvPr id="13" name="change">
            <a:extLst xmlns:a="http://schemas.openxmlformats.org/drawingml/2006/main">
              <a:ext uri="{FF2B5EF4-FFF2-40B4-BE49-F238E27FC236}">
                <a16:creationId xmlns:a16="http://schemas.microsoft.com/office/drawing/2014/main" id="{52FE8C76-D167-43BD-8060-B61FC067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2428875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FF6FAE"/>
            </a:solidFill>
            <a:prstDash val="solid"/>
          </a:ln>
        </p:spPr>
      </p:sp>
      <p:sp>
        <p:nvSpPr>
          <p:cNvPr id="14" name="change-heading">
            <a:extLst xmlns:a="http://schemas.openxmlformats.org/drawingml/2006/main">
              <a:ext uri="{FF2B5EF4-FFF2-40B4-BE49-F238E27FC236}">
                <a16:creationId xmlns:a16="http://schemas.microsoft.com/office/drawing/2014/main" id="{F35E5EBB-E793-4A02-B34B-DB331DF1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ONE CHANGE</a:t>
            </a:r>
          </a:p>
        </p:txBody>
      </p:sp>
      <p:sp>
        <p:nvSpPr>
          <p:cNvPr id="15" name="change-body">
            <a:extLst xmlns:a="http://schemas.openxmlformats.org/drawingml/2006/main">
              <a:ext uri="{FF2B5EF4-FFF2-40B4-BE49-F238E27FC236}">
                <a16:creationId xmlns:a16="http://schemas.microsoft.com/office/drawing/2014/main" id="{A8829335-1A1E-4463-8695-C7CE8647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05100"/>
            <a:ext cx="2009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What exact line or value changed?</a:t>
            </a:r>
          </a:p>
        </p:txBody>
      </p:sp>
      <p:sp>
        <p:nvSpPr>
          <p:cNvPr id="16" name="result">
            <a:extLst xmlns:a="http://schemas.openxmlformats.org/drawingml/2006/main">
              <a:ext uri="{FF2B5EF4-FFF2-40B4-BE49-F238E27FC236}">
                <a16:creationId xmlns:a16="http://schemas.microsoft.com/office/drawing/2014/main" id="{0C5F364F-574C-48C7-8623-B5EB8114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2428875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17" name="result-heading">
            <a:extLst xmlns:a="http://schemas.openxmlformats.org/drawingml/2006/main">
              <a:ext uri="{FF2B5EF4-FFF2-40B4-BE49-F238E27FC236}">
                <a16:creationId xmlns:a16="http://schemas.microsoft.com/office/drawing/2014/main" id="{D356DB88-5095-4F33-BA36-5D92F88F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266950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RESULT</a:t>
            </a:r>
          </a:p>
        </p:txBody>
      </p:sp>
      <p:sp>
        <p:nvSpPr>
          <p:cNvPr id="18" name="result-body">
            <a:extLst xmlns:a="http://schemas.openxmlformats.org/drawingml/2006/main">
              <a:ext uri="{FF2B5EF4-FFF2-40B4-BE49-F238E27FC236}">
                <a16:creationId xmlns:a16="http://schemas.microsoft.com/office/drawing/2014/main" id="{55A70B05-D812-4B03-BB8D-9D71C66D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705100"/>
            <a:ext cx="2009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What changed after the test?</a:t>
            </a:r>
          </a:p>
        </p:txBody>
      </p:sp>
      <p:sp>
        <p:nvSpPr>
          <p:cNvPr id="19" name="stem">
            <a:extLst xmlns:a="http://schemas.openxmlformats.org/drawingml/2006/main">
              <a:ext uri="{FF2B5EF4-FFF2-40B4-BE49-F238E27FC236}">
                <a16:creationId xmlns:a16="http://schemas.microsoft.com/office/drawing/2014/main" id="{FA66853C-9575-4F91-B977-33E1D612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530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BE8"/>
                </a:solidFill>
              </a:defRPr>
            </a:pPr>
            <a:r>
              <a:rPr sz="1950" b="1">
                <a:solidFill>
                  <a:srgbClr val="FFFBE8"/>
                </a:solidFill>
              </a:rPr>
              <a:t>“When I changed ______, the program ______ because ______.”</a:t>
            </a:r>
          </a:p>
        </p:txBody>
      </p:sp>
    </p:spTree>
    <p:extLst>
      <p:ext uri="{BB962C8B-B14F-4D97-AF65-F5344CB8AC3E}">
        <p14:creationId xmlns:p14="http://schemas.microsoft.com/office/powerpoint/2010/main" val="19020654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9277CF1F-ED02-467B-B72B-5C7CB6FB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TEST AND REVISE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25C9272B-4946-40EA-999D-E8F1E06A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DAY 3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88488C0-3C10-49F5-A938-196BE41C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45F08A9-2725-4653-81EC-EBB9102A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C78B694-FB68-4461-A0A9-6ACB032B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Revise the pseudocode—not only the blocks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C65DD600-4901-4DB1-AB37-0BDA0F47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A better executable program should leave behind a better plan.</a:t>
            </a:r>
          </a:p>
        </p:txBody>
      </p:sp>
      <p:sp>
        <p:nvSpPr>
          <p:cNvPr id="7" name="before">
            <a:extLst xmlns:a="http://schemas.openxmlformats.org/drawingml/2006/main">
              <a:ext uri="{FF2B5EF4-FFF2-40B4-BE49-F238E27FC236}">
                <a16:creationId xmlns:a16="http://schemas.microsoft.com/office/drawing/2014/main" id="{ED3124D7-6BAA-4F36-BD34-6294CD7B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19100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FF6FAE"/>
            </a:solidFill>
            <a:prstDash val="solid"/>
          </a:ln>
        </p:spPr>
      </p:sp>
      <p:sp>
        <p:nvSpPr>
          <p:cNvPr id="8" name="before-heading">
            <a:extLst xmlns:a="http://schemas.openxmlformats.org/drawingml/2006/main">
              <a:ext uri="{FF2B5EF4-FFF2-40B4-BE49-F238E27FC236}">
                <a16:creationId xmlns:a16="http://schemas.microsoft.com/office/drawing/2014/main" id="{39641A35-702A-4CDC-B601-4FB92D80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62200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BEFORE</a:t>
            </a:r>
          </a:p>
        </p:txBody>
      </p:sp>
      <p:sp>
        <p:nvSpPr>
          <p:cNvPr id="9" name="before-body">
            <a:extLst xmlns:a="http://schemas.openxmlformats.org/drawingml/2006/main">
              <a:ext uri="{FF2B5EF4-FFF2-40B4-BE49-F238E27FC236}">
                <a16:creationId xmlns:a16="http://schemas.microsoft.com/office/drawing/2014/main" id="{19A45E42-676A-4DA8-8B7F-0A202874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3771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REPEAT 3 times</a:t>
            </a:r>
          </a:p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  MOVE forward</a:t>
            </a:r>
          </a:p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END REPEAT</a:t>
            </a:r>
          </a:p>
        </p:txBody>
      </p:sp>
      <p:sp>
        <p:nvSpPr>
          <p:cNvPr id="10" name="after">
            <a:extLst xmlns:a="http://schemas.openxmlformats.org/drawingml/2006/main">
              <a:ext uri="{FF2B5EF4-FFF2-40B4-BE49-F238E27FC236}">
                <a16:creationId xmlns:a16="http://schemas.microsoft.com/office/drawing/2014/main" id="{35583C17-8F9E-4DE0-B4C3-9788DC62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90750"/>
            <a:ext cx="419100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54B68A"/>
            </a:solidFill>
            <a:prstDash val="solid"/>
          </a:ln>
        </p:spPr>
      </p:sp>
      <p:sp>
        <p:nvSpPr>
          <p:cNvPr id="11" name="after-heading">
            <a:extLst xmlns:a="http://schemas.openxmlformats.org/drawingml/2006/main">
              <a:ext uri="{FF2B5EF4-FFF2-40B4-BE49-F238E27FC236}">
                <a16:creationId xmlns:a16="http://schemas.microsoft.com/office/drawing/2014/main" id="{0422DEE0-B4DB-48F4-A999-8B7AF892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62200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AFTER</a:t>
            </a:r>
          </a:p>
        </p:txBody>
      </p:sp>
      <p:sp>
        <p:nvSpPr>
          <p:cNvPr id="12" name="after-body">
            <a:extLst xmlns:a="http://schemas.openxmlformats.org/drawingml/2006/main">
              <a:ext uri="{FF2B5EF4-FFF2-40B4-BE49-F238E27FC236}">
                <a16:creationId xmlns:a16="http://schemas.microsoft.com/office/drawing/2014/main" id="{7123D38F-4EC1-467C-A423-295A4E27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REPEAT 4 times</a:t>
            </a:r>
          </a:p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  MOVE forward</a:t>
            </a:r>
          </a:p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  CHECK for wall</a:t>
            </a:r>
          </a:p>
          <a:p xmlns:a="http://schemas.openxmlformats.org/drawingml/2006/main">
            <a:pPr algn="l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END REPEAT</a:t>
            </a:r>
          </a:p>
        </p:txBody>
      </p:sp>
      <p:sp>
        <p:nvSpPr>
          <p:cNvPr id="13" name="claim">
            <a:extLst xmlns:a="http://schemas.openxmlformats.org/drawingml/2006/main">
              <a:ext uri="{FF2B5EF4-FFF2-40B4-BE49-F238E27FC236}">
                <a16:creationId xmlns:a16="http://schemas.microsoft.com/office/drawing/2014/main" id="{A934316F-4B26-4E3C-BC63-A39E5D01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Name the exact revision and the evidence that justified it.</a:t>
            </a:r>
          </a:p>
        </p:txBody>
      </p:sp>
    </p:spTree>
    <p:extLst>
      <p:ext uri="{BB962C8B-B14F-4D97-AF65-F5344CB8AC3E}">
        <p14:creationId xmlns:p14="http://schemas.microsoft.com/office/powerpoint/2010/main" val="5983835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ED11AC53-12CF-4871-AD99-4549BB35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GAME REMIX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586D9930-29AB-4C7E-BFED-C514A863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LESSON 2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C27C0EE-BE8B-4787-9636-A047F53E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7F5F9A7-E34B-4EA4-A985-5F2CAD15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07B2F21-E269-48B8-9C78-7A714F66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Plan one game feature before adding it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8589CB7E-666D-424E-AA22-5F31EB3E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Complete Passport Checkpoint 4 at the start of Video Game Design Lesson 2.</a:t>
            </a:r>
          </a:p>
        </p:txBody>
      </p:sp>
      <p:sp>
        <p:nvSpPr>
          <p:cNvPr id="7" name="challenge">
            <a:extLst xmlns:a="http://schemas.openxmlformats.org/drawingml/2006/main">
              <a:ext uri="{FF2B5EF4-FFF2-40B4-BE49-F238E27FC236}">
                <a16:creationId xmlns:a16="http://schemas.microsoft.com/office/drawing/2014/main" id="{B9C25F6C-A486-4A9E-9D08-F5285579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33375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A970FF"/>
            </a:solidFill>
            <a:prstDash val="solid"/>
          </a:ln>
        </p:spPr>
      </p:sp>
      <p:sp>
        <p:nvSpPr>
          <p:cNvPr id="8" name="challenge-heading">
            <a:extLst xmlns:a="http://schemas.openxmlformats.org/drawingml/2006/main">
              <a:ext uri="{FF2B5EF4-FFF2-40B4-BE49-F238E27FC236}">
                <a16:creationId xmlns:a16="http://schemas.microsoft.com/office/drawing/2014/main" id="{DD61A965-9E3E-4849-8562-3FACBD80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FEATURE GOAL</a:t>
            </a:r>
          </a:p>
        </p:txBody>
      </p:sp>
      <p:sp>
        <p:nvSpPr>
          <p:cNvPr id="9" name="challenge-body">
            <a:extLst xmlns:a="http://schemas.openxmlformats.org/drawingml/2006/main">
              <a:ext uri="{FF2B5EF4-FFF2-40B4-BE49-F238E27FC236}">
                <a16:creationId xmlns:a16="http://schemas.microsoft.com/office/drawing/2014/main" id="{F2FC9E75-7759-41C7-8F6A-254D1BDA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9146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Challenge · reward · rule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identity choice · feedback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progression</a:t>
            </a:r>
          </a:p>
        </p:txBody>
      </p:sp>
      <p:sp>
        <p:nvSpPr>
          <p:cNvPr id="10" name="trigger">
            <a:extLst xmlns:a="http://schemas.openxmlformats.org/drawingml/2006/main">
              <a:ext uri="{FF2B5EF4-FFF2-40B4-BE49-F238E27FC236}">
                <a16:creationId xmlns:a16="http://schemas.microsoft.com/office/drawing/2014/main" id="{3C6743EE-5552-46A0-87CC-975B9DDD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11" name="trigger-heading">
            <a:extLst xmlns:a="http://schemas.openxmlformats.org/drawingml/2006/main">
              <a:ext uri="{FF2B5EF4-FFF2-40B4-BE49-F238E27FC236}">
                <a16:creationId xmlns:a16="http://schemas.microsoft.com/office/drawing/2014/main" id="{89B00636-09A3-4898-98AB-56A5A91C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669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TRIGGER</a:t>
            </a:r>
          </a:p>
        </p:txBody>
      </p:sp>
      <p:sp>
        <p:nvSpPr>
          <p:cNvPr id="12" name="trigger-body">
            <a:extLst xmlns:a="http://schemas.openxmlformats.org/drawingml/2006/main">
              <a:ext uri="{FF2B5EF4-FFF2-40B4-BE49-F238E27FC236}">
                <a16:creationId xmlns:a16="http://schemas.microsoft.com/office/drawing/2014/main" id="{D5A0FD3E-7035-414B-9551-F0D7351E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05100"/>
            <a:ext cx="29146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033"/>
                </a:solidFill>
              </a:defRPr>
            </a:pPr>
            <a:r>
              <a:rPr sz="1950" b="0">
                <a:solidFill>
                  <a:srgbClr val="172033"/>
                </a:solidFill>
              </a:rPr>
              <a:t>WHEN ______ happens...</a:t>
            </a:r>
          </a:p>
        </p:txBody>
      </p:sp>
      <p:sp>
        <p:nvSpPr>
          <p:cNvPr id="13" name="response">
            <a:extLst xmlns:a="http://schemas.openxmlformats.org/drawingml/2006/main">
              <a:ext uri="{FF2B5EF4-FFF2-40B4-BE49-F238E27FC236}">
                <a16:creationId xmlns:a16="http://schemas.microsoft.com/office/drawing/2014/main" id="{27684A63-0B71-4312-939F-69B9A947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33375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14" name="response-heading">
            <a:extLst xmlns:a="http://schemas.openxmlformats.org/drawingml/2006/main">
              <a:ext uri="{FF2B5EF4-FFF2-40B4-BE49-F238E27FC236}">
                <a16:creationId xmlns:a16="http://schemas.microsoft.com/office/drawing/2014/main" id="{2421C876-3F3F-4CCB-83AD-B6CD12EC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RESULT</a:t>
            </a:r>
          </a:p>
        </p:txBody>
      </p:sp>
      <p:sp>
        <p:nvSpPr>
          <p:cNvPr id="15" name="response-body">
            <a:extLst xmlns:a="http://schemas.openxmlformats.org/drawingml/2006/main">
              <a:ext uri="{FF2B5EF4-FFF2-40B4-BE49-F238E27FC236}">
                <a16:creationId xmlns:a16="http://schemas.microsoft.com/office/drawing/2014/main" id="{BFBCE603-00F2-468A-A016-7D873C2C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05100"/>
            <a:ext cx="29146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033"/>
                </a:solidFill>
              </a:defRPr>
            </a:pPr>
            <a:r>
              <a:rPr sz="1950" b="0">
                <a:solidFill>
                  <a:srgbClr val="172033"/>
                </a:solidFill>
              </a:rPr>
              <a:t>...the program SHOULD ______.</a:t>
            </a:r>
          </a:p>
        </p:txBody>
      </p:sp>
    </p:spTree>
    <p:extLst>
      <p:ext uri="{BB962C8B-B14F-4D97-AF65-F5344CB8AC3E}">
        <p14:creationId xmlns:p14="http://schemas.microsoft.com/office/powerpoint/2010/main" val="16116312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F940AE01-8A27-47D9-B096-FA685DCB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GAME REMIX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8A0CB2EF-3C9E-4363-8440-A9B6FE2C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LESSON 2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DA74C9C-6CEC-4087-AE36-36F70E44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D2D625E-DA13-4121-91FF-433B7EBF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BF1AFB0-692E-4E89-A79C-F723C5AA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 when/should statement becomes pseudocode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04FCAB27-026C-4F32-B028-F17C8678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The feature plan predicts behavior before the code is changed.</a:t>
            </a:r>
          </a:p>
        </p:txBody>
      </p:sp>
      <p:sp>
        <p:nvSpPr>
          <p:cNvPr id="7" name="feature-code-frame">
            <a:extLst xmlns:a="http://schemas.openxmlformats.org/drawingml/2006/main">
              <a:ext uri="{FF2B5EF4-FFF2-40B4-BE49-F238E27FC236}">
                <a16:creationId xmlns:a16="http://schemas.microsoft.com/office/drawing/2014/main" id="{552ED31C-F068-4F18-A2A3-663E168B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00250"/>
            <a:ext cx="8858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7101E"/>
          </a:solidFill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8" name="feature-code">
            <a:extLst xmlns:a="http://schemas.openxmlformats.org/drawingml/2006/main">
              <a:ext uri="{FF2B5EF4-FFF2-40B4-BE49-F238E27FC236}">
                <a16:creationId xmlns:a16="http://schemas.microsoft.com/office/drawing/2014/main" id="{58FB7E6E-C4A9-4E1E-9DAA-78F3C118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171700"/>
            <a:ext cx="84391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8FFF8"/>
                </a:solidFill>
              </a:defRPr>
            </a:pPr>
            <a:r>
              <a:rPr sz="2100" b="0">
                <a:solidFill>
                  <a:srgbClr val="E8FFF8"/>
                </a:solidFill>
              </a:rPr>
              <a:t>WHEN player overlaps reward</a:t>
            </a:r>
          </a:p>
          <a:p xmlns:a="http://schemas.openxmlformats.org/drawingml/2006/main">
            <a:pPr algn="l">
              <a:defRPr sz="2100" b="0">
                <a:solidFill>
                  <a:srgbClr val="E8FFF8"/>
                </a:solidFill>
              </a:defRPr>
            </a:pPr>
            <a:r>
              <a:rPr sz="2100" b="0">
                <a:solidFill>
                  <a:srgbClr val="E8FFF8"/>
                </a:solidFill>
              </a:rPr>
              <a:t>  ADD 1 TO score</a:t>
            </a:r>
          </a:p>
          <a:p xmlns:a="http://schemas.openxmlformats.org/drawingml/2006/main">
            <a:pPr algn="l">
              <a:defRPr sz="2100" b="0">
                <a:solidFill>
                  <a:srgbClr val="E8FFF8"/>
                </a:solidFill>
              </a:defRPr>
            </a:pPr>
            <a:r>
              <a:rPr sz="2100" b="0">
                <a:solidFill>
                  <a:srgbClr val="E8FFF8"/>
                </a:solidFill>
              </a:rPr>
              <a:t>  PLAY success sound</a:t>
            </a:r>
          </a:p>
          <a:p xmlns:a="http://schemas.openxmlformats.org/drawingml/2006/main">
            <a:pPr algn="l">
              <a:defRPr sz="2100" b="0">
                <a:solidFill>
                  <a:srgbClr val="E8FFF8"/>
                </a:solidFill>
              </a:defRPr>
            </a:pPr>
            <a:r>
              <a:rPr sz="2100" b="0">
                <a:solidFill>
                  <a:srgbClr val="E8FFF8"/>
                </a:solidFill>
              </a:rPr>
              <a:t>  MOVE reward to new location</a:t>
            </a:r>
          </a:p>
          <a:p xmlns:a="http://schemas.openxmlformats.org/drawingml/2006/main">
            <a:pPr algn="l">
              <a:defRPr sz="2100" b="0">
                <a:solidFill>
                  <a:srgbClr val="E8FFF8"/>
                </a:solidFill>
              </a:defRPr>
            </a:pPr>
            <a:r>
              <a:rPr sz="2100" b="0">
                <a:solidFill>
                  <a:srgbClr val="E8FFF8"/>
                </a:solidFill>
              </a:rPr>
              <a:t>END WHEN</a:t>
            </a:r>
          </a:p>
        </p:txBody>
      </p:sp>
      <p:sp>
        <p:nvSpPr>
          <p:cNvPr id="9" name="test">
            <a:extLst xmlns:a="http://schemas.openxmlformats.org/drawingml/2006/main">
              <a:ext uri="{FF2B5EF4-FFF2-40B4-BE49-F238E27FC236}">
                <a16:creationId xmlns:a16="http://schemas.microsoft.com/office/drawing/2014/main" id="{4F7D921F-1362-4067-A760-0C2B716D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911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BE8"/>
                </a:solidFill>
              </a:defRPr>
            </a:pPr>
            <a:r>
              <a:rPr sz="1725" b="1">
                <a:solidFill>
                  <a:srgbClr val="FFFBE8"/>
                </a:solidFill>
              </a:rPr>
              <a:t>Test question: Does the reward change score, feedback, and position every time?</a:t>
            </a:r>
          </a:p>
        </p:txBody>
      </p:sp>
    </p:spTree>
    <p:extLst>
      <p:ext uri="{BB962C8B-B14F-4D97-AF65-F5344CB8AC3E}">
        <p14:creationId xmlns:p14="http://schemas.microsoft.com/office/powerpoint/2010/main" val="15222497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84D47273-FF3C-4DFF-9B8B-F39CCF8F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B8C8"/>
                </a:solidFill>
              </a:defRPr>
            </a:pPr>
            <a:r>
              <a:rPr sz="1200" b="1">
                <a:solidFill>
                  <a:srgbClr val="00B8C8"/>
                </a:solidFill>
              </a:rPr>
              <a:t>TEXT-CODE BRIDGE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F103D63-8AEE-4D6B-83B8-D3556908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Blocks show the structure.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Text makes every instruction visible.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AC84040-0566-4EA7-A3AA-752BC85F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FC1D6"/>
                </a:solidFill>
              </a:defRPr>
            </a:pPr>
            <a:r>
              <a:rPr sz="1800" b="0">
                <a:solidFill>
                  <a:srgbClr val="AFC1D6"/>
                </a:solidFill>
              </a:rPr>
              <a:t>Emergency Supply Grid · two class periods · MakeCode Arcade JavaScript</a:t>
            </a:r>
          </a:p>
        </p:txBody>
      </p:sp>
      <p:sp>
        <p:nvSpPr>
          <p:cNvPr id="4" name="flow-0">
            <a:extLst xmlns:a="http://schemas.openxmlformats.org/drawingml/2006/main">
              <a:ext uri="{FF2B5EF4-FFF2-40B4-BE49-F238E27FC236}">
                <a16:creationId xmlns:a16="http://schemas.microsoft.com/office/drawing/2014/main" id="{B7C99C32-854B-4B06-BCB5-9FCB845F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00625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00B8C8"/>
            </a:solidFill>
            <a:prstDash val="solid"/>
          </a:ln>
        </p:spPr>
      </p:sp>
      <p:sp>
        <p:nvSpPr>
          <p:cNvPr id="5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8EFC7E54-DFEE-4DE5-A197-C037A406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TRACE</a:t>
            </a:r>
          </a:p>
        </p:txBody>
      </p:sp>
      <p:sp>
        <p:nvSpPr>
          <p:cNvPr id="6" name="flow-1">
            <a:extLst xmlns:a="http://schemas.openxmlformats.org/drawingml/2006/main">
              <a:ext uri="{FF2B5EF4-FFF2-40B4-BE49-F238E27FC236}">
                <a16:creationId xmlns:a16="http://schemas.microsoft.com/office/drawing/2014/main" id="{A49A5BCD-25CD-43A9-ACA8-FCB666CC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000625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54B68A"/>
            </a:solidFill>
            <a:prstDash val="solid"/>
          </a:ln>
        </p:spPr>
      </p:sp>
      <p:sp>
        <p:nvSpPr>
          <p:cNvPr id="7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F32A2CC6-AD66-417F-A6E2-BD9D549A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830" y="5191125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PREDICT</a:t>
            </a:r>
          </a:p>
        </p:txBody>
      </p:sp>
      <p:sp>
        <p:nvSpPr>
          <p:cNvPr id="8" name="flow-2">
            <a:extLst xmlns:a="http://schemas.openxmlformats.org/drawingml/2006/main">
              <a:ext uri="{FF2B5EF4-FFF2-40B4-BE49-F238E27FC236}">
                <a16:creationId xmlns:a16="http://schemas.microsoft.com/office/drawing/2014/main" id="{21EBE625-28C2-4245-9CAA-28DD2960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860" y="5000625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A970FF"/>
            </a:solidFill>
            <a:prstDash val="solid"/>
          </a:ln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F1579E67-152A-4841-91DF-6BF3F815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5191125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RUN</a:t>
            </a:r>
          </a:p>
        </p:txBody>
      </p:sp>
      <p:sp>
        <p:nvSpPr>
          <p:cNvPr id="10" name="flow-3">
            <a:extLst xmlns:a="http://schemas.openxmlformats.org/drawingml/2006/main">
              <a:ext uri="{FF2B5EF4-FFF2-40B4-BE49-F238E27FC236}">
                <a16:creationId xmlns:a16="http://schemas.microsoft.com/office/drawing/2014/main" id="{B5133877-1E13-4959-852F-E5120A08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5000625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FF6FAE"/>
            </a:solidFill>
            <a:prstDash val="solid"/>
          </a:ln>
        </p:spPr>
      </p:sp>
      <p:sp>
        <p:nvSpPr>
          <p:cNvPr id="11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81986B34-0447-43D2-881A-1F5CD135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5191125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CHANGE</a:t>
            </a:r>
          </a:p>
        </p:txBody>
      </p:sp>
      <p:sp>
        <p:nvSpPr>
          <p:cNvPr id="12" name="flow-4">
            <a:extLst xmlns:a="http://schemas.openxmlformats.org/drawingml/2006/main">
              <a:ext uri="{FF2B5EF4-FFF2-40B4-BE49-F238E27FC236}">
                <a16:creationId xmlns:a16="http://schemas.microsoft.com/office/drawing/2014/main" id="{B6584111-FF2E-49F9-98C7-3B2CCBF6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20" y="5000625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FFD166"/>
            </a:solidFill>
            <a:prstDash val="solid"/>
          </a:ln>
        </p:spPr>
      </p:sp>
      <p:sp>
        <p:nvSpPr>
          <p:cNvPr id="13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946F5857-0BFB-44E3-A77B-8B62B3CC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820" y="5191125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4934267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A25FBEC9-D2EB-4FF6-A2BA-E26B3D39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TEXT-CODE BRIDGE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90C870A7-A696-4427-8E76-85AA0E5E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DAY 1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EF0D75F-B33D-4407-8380-3328CBDD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42C2813-54BE-4EEC-BB74-4EE82BB7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0D72B79-46EB-4731-8DBB-2ADA6174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Open a new project and select JavaScript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1AD50348-8E96-474A-8824-2C113FA9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No import or personal account is required for the core route.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009a2d624481a"/>
          <a:stretch xmlns:a="http://schemas.openxmlformats.org/drawingml/2006/main"/>
        </p:blipFill>
        <p:spPr>
          <a:xfrm xmlns:a="http://schemas.openxmlformats.org/drawingml/2006/main">
            <a:off x="687917" y="1809750"/>
            <a:ext cx="7196667" cy="4048125"/>
          </a:xfrm>
          <a:prstGeom xmlns:a="http://schemas.openxmlformats.org/drawingml/2006/main" prst="roundRect">
            <a:avLst>
              <a:gd name="adj" fmla="val 3294"/>
            </a:avLst>
          </a:prstGeom>
        </p:spPr>
      </p:pic>
      <p:sp>
        <p:nvSpPr>
          <p:cNvPr id="8" name="makecode-open-border">
            <a:extLst xmlns:a="http://schemas.openxmlformats.org/drawingml/2006/main">
              <a:ext uri="{FF2B5EF4-FFF2-40B4-BE49-F238E27FC236}">
                <a16:creationId xmlns:a16="http://schemas.microsoft.com/office/drawing/2014/main" id="{D85AA7A7-7096-4C30-9A05-90247AAC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239000" cy="4048125"/>
          </a:xfrm>
          <a:prstGeom xmlns:a="http://schemas.openxmlformats.org/drawingml/2006/main" prst="roundRect">
            <a:avLst>
              <a:gd name="adj" fmla="val 329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9" name="steps">
            <a:extLst xmlns:a="http://schemas.openxmlformats.org/drawingml/2006/main">
              <a:ext uri="{FF2B5EF4-FFF2-40B4-BE49-F238E27FC236}">
                <a16:creationId xmlns:a16="http://schemas.microsoft.com/office/drawing/2014/main" id="{85D3B4C9-7831-4B23-A578-C8244A5E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3143250" cy="3476625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10" name="steps-heading">
            <a:extLst xmlns:a="http://schemas.openxmlformats.org/drawingml/2006/main">
              <a:ext uri="{FF2B5EF4-FFF2-40B4-BE49-F238E27FC236}">
                <a16:creationId xmlns:a16="http://schemas.microsoft.com/office/drawing/2014/main" id="{7B438E4A-8400-45BA-ACD3-9D032A64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717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START HERE</a:t>
            </a:r>
          </a:p>
        </p:txBody>
      </p:sp>
      <p:sp>
        <p:nvSpPr>
          <p:cNvPr id="11" name="steps-body">
            <a:extLst xmlns:a="http://schemas.openxmlformats.org/drawingml/2006/main">
              <a:ext uri="{FF2B5EF4-FFF2-40B4-BE49-F238E27FC236}">
                <a16:creationId xmlns:a16="http://schemas.microsoft.com/office/drawing/2014/main" id="{14F404A7-5BD9-4C22-AD03-679E8A61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09850"/>
            <a:ext cx="2724150" cy="2695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1. Open arcade.makecode.com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2. Choose New Project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3. Name it Emergency Supply Grid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4. Select JavaScript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5. Keep the simulator visible</a:t>
            </a:r>
          </a:p>
        </p:txBody>
      </p:sp>
    </p:spTree>
    <p:extLst>
      <p:ext uri="{BB962C8B-B14F-4D97-AF65-F5344CB8AC3E}">
        <p14:creationId xmlns:p14="http://schemas.microsoft.com/office/powerpoint/2010/main" val="17711059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4A411812-B239-47F7-8BC0-D0880D3C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TEXT-CODE BRIDGE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8D54AC23-E4D8-400B-BC69-D838052C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DAY 1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63E6CBC-6EF0-4EE4-ADDD-BE4A51AC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C481F8F-50D5-44AA-A116-960058DF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BBC30DD-7518-44AA-A59E-E22AA1F3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Read named variables from top to bottom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6376F75B-14DE-47A6-8A56-CB6D3B8A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Type, starting value, and purpose belong together.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6ffdc3dd049dd"/>
          <a:stretch xmlns:a="http://schemas.openxmlformats.org/drawingml/2006/main"/>
        </p:blipFill>
        <p:spPr>
          <a:xfrm xmlns:a="http://schemas.openxmlformats.org/drawingml/2006/main">
            <a:off x="571500" y="1739503"/>
            <a:ext cx="7429500" cy="4179094"/>
          </a:xfrm>
          <a:prstGeom xmlns:a="http://schemas.openxmlformats.org/drawingml/2006/main" prst="roundRect">
            <a:avLst>
              <a:gd name="adj" fmla="val 3182"/>
            </a:avLst>
          </a:prstGeom>
        </p:spPr>
      </p:pic>
      <p:sp>
        <p:nvSpPr>
          <p:cNvPr id="8" name="makecode-vars-border">
            <a:extLst xmlns:a="http://schemas.openxmlformats.org/drawingml/2006/main">
              <a:ext uri="{FF2B5EF4-FFF2-40B4-BE49-F238E27FC236}">
                <a16:creationId xmlns:a16="http://schemas.microsoft.com/office/drawing/2014/main" id="{A65ACC74-0AF1-4BCF-AC73-3A1406E4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7429500" cy="4191000"/>
          </a:xfrm>
          <a:prstGeom xmlns:a="http://schemas.openxmlformats.org/drawingml/2006/main" prst="roundRect">
            <a:avLst>
              <a:gd name="adj" fmla="val 318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9" name="trace-vars">
            <a:extLst xmlns:a="http://schemas.openxmlformats.org/drawingml/2006/main">
              <a:ext uri="{FF2B5EF4-FFF2-40B4-BE49-F238E27FC236}">
                <a16:creationId xmlns:a16="http://schemas.microsoft.com/office/drawing/2014/main" id="{53C18555-71DA-4544-B2B3-024EE798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3143250" cy="33337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A970FF"/>
            </a:solidFill>
            <a:prstDash val="solid"/>
          </a:ln>
        </p:spPr>
      </p:sp>
      <p:sp>
        <p:nvSpPr>
          <p:cNvPr id="10" name="trace-vars-heading">
            <a:extLst xmlns:a="http://schemas.openxmlformats.org/drawingml/2006/main">
              <a:ext uri="{FF2B5EF4-FFF2-40B4-BE49-F238E27FC236}">
                <a16:creationId xmlns:a16="http://schemas.microsoft.com/office/drawing/2014/main" id="{F751F615-2129-4818-9DE0-C067FFA9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240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TRACE FOUR VALUES</a:t>
            </a:r>
          </a:p>
        </p:txBody>
      </p:sp>
      <p:sp>
        <p:nvSpPr>
          <p:cNvPr id="11" name="trace-vars-body">
            <a:extLst xmlns:a="http://schemas.openxmlformats.org/drawingml/2006/main">
              <a:ext uri="{FF2B5EF4-FFF2-40B4-BE49-F238E27FC236}">
                <a16:creationId xmlns:a16="http://schemas.microsoft.com/office/drawing/2014/main" id="{736327DE-2160-483B-A77E-25C8F80A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62225"/>
            <a:ext cx="27241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missionName → string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rows / columns → numbers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priorityMode → Boolean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suppliesPlaced → number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Predict before running.</a:t>
            </a:r>
          </a:p>
        </p:txBody>
      </p:sp>
    </p:spTree>
    <p:extLst>
      <p:ext uri="{BB962C8B-B14F-4D97-AF65-F5344CB8AC3E}">
        <p14:creationId xmlns:p14="http://schemas.microsoft.com/office/powerpoint/2010/main" val="8736646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9398A97B-B7B0-4DAF-A435-1A54BE43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TEXT-CODE BRIDGE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BE6B89F0-9EB0-47F4-A1FE-04ABCF89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DAY 1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26A6153-8B36-4628-82F4-DDC7EA26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DCE3E11-D5FF-4FCE-ACF9-D345662B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95187B4-85C1-4F9C-A111-0FE6C193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The outer loop makes rows; the inner loop makes columns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F6CD22D8-DB1A-4AD1-BE1E-27F425F2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One complete inner loop places every supply in one row.</a:t>
            </a:r>
          </a:p>
        </p:txBody>
      </p:sp>
      <p:sp>
        <p:nvSpPr>
          <p:cNvPr id="7" name="nested-frame">
            <a:extLst xmlns:a="http://schemas.openxmlformats.org/drawingml/2006/main">
              <a:ext uri="{FF2B5EF4-FFF2-40B4-BE49-F238E27FC236}">
                <a16:creationId xmlns:a16="http://schemas.microsoft.com/office/drawing/2014/main" id="{E531EDE8-0D1B-417A-8A06-DD8DE520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9906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7101E"/>
          </a:solidFill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8" name="nested">
            <a:extLst xmlns:a="http://schemas.openxmlformats.org/drawingml/2006/main">
              <a:ext uri="{FF2B5EF4-FFF2-40B4-BE49-F238E27FC236}">
                <a16:creationId xmlns:a16="http://schemas.microsoft.com/office/drawing/2014/main" id="{5A3DD5F4-8B92-409C-8445-D82CAD35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76450"/>
            <a:ext cx="94869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8FFF8"/>
                </a:solidFill>
              </a:defRPr>
            </a:pPr>
            <a:r>
              <a:rPr sz="1875" b="0">
                <a:solidFill>
                  <a:srgbClr val="E8FFF8"/>
                </a:solidFill>
              </a:rPr>
              <a:t>for (let row = 0; row &lt; rows; row++) {</a:t>
            </a:r>
          </a:p>
          <a:p xmlns:a="http://schemas.openxmlformats.org/drawingml/2006/main">
            <a:pPr algn="l">
              <a:defRPr sz="1875" b="0">
                <a:solidFill>
                  <a:srgbClr val="E8FFF8"/>
                </a:solidFill>
              </a:defRPr>
            </a:pPr>
            <a:r>
              <a:rPr sz="1875" b="0">
                <a:solidFill>
                  <a:srgbClr val="E8FFF8"/>
                </a:solidFill>
              </a:rPr>
              <a:t>  for (let column = 0; column &lt; columns; column++) {</a:t>
            </a:r>
          </a:p>
          <a:p xmlns:a="http://schemas.openxmlformats.org/drawingml/2006/main">
            <a:pPr algn="l">
              <a:defRPr sz="1875" b="0">
                <a:solidFill>
                  <a:srgbClr val="E8FFF8"/>
                </a:solidFill>
              </a:defRPr>
            </a:pPr>
            <a:r>
              <a:rPr sz="1875" b="0">
                <a:solidFill>
                  <a:srgbClr val="E8FFF8"/>
                </a:solidFill>
              </a:rPr>
              <a:t>    placeSupply(row, column)</a:t>
            </a:r>
          </a:p>
          <a:p xmlns:a="http://schemas.openxmlformats.org/drawingml/2006/main">
            <a:pPr algn="l">
              <a:defRPr sz="1875" b="0">
                <a:solidFill>
                  <a:srgbClr val="E8FFF8"/>
                </a:solidFill>
              </a:defRPr>
            </a:pPr>
            <a:r>
              <a:rPr sz="1875" b="0">
                <a:solidFill>
                  <a:srgbClr val="E8FFF8"/>
                </a:solidFill>
              </a:rPr>
              <a:t>    suppliesPlaced += 1</a:t>
            </a:r>
          </a:p>
          <a:p xmlns:a="http://schemas.openxmlformats.org/drawingml/2006/main">
            <a:pPr algn="l">
              <a:defRPr sz="1875" b="0">
                <a:solidFill>
                  <a:srgbClr val="E8FFF8"/>
                </a:solidFill>
              </a:defRPr>
            </a:pPr>
            <a:r>
              <a:rPr sz="1875" b="0">
                <a:solidFill>
                  <a:srgbClr val="E8FFF8"/>
                </a:solidFill>
              </a:rPr>
              <a:t>  }</a:t>
            </a:r>
          </a:p>
          <a:p xmlns:a="http://schemas.openxmlformats.org/drawingml/2006/main">
            <a:pPr algn="l">
              <a:defRPr sz="1875" b="0">
                <a:solidFill>
                  <a:srgbClr val="E8FFF8"/>
                </a:solidFill>
              </a:defRPr>
            </a:pPr>
            <a:r>
              <a:rPr sz="1875" b="0">
                <a:solidFill>
                  <a:srgbClr val="E8FFF8"/>
                </a:solidFill>
              </a:rPr>
              <a:t>}</a:t>
            </a:r>
          </a:p>
        </p:txBody>
      </p:sp>
      <p:sp>
        <p:nvSpPr>
          <p:cNvPr id="9" name="trace">
            <a:extLst xmlns:a="http://schemas.openxmlformats.org/drawingml/2006/main">
              <a:ext uri="{FF2B5EF4-FFF2-40B4-BE49-F238E27FC236}">
                <a16:creationId xmlns:a16="http://schemas.microsoft.com/office/drawing/2014/main" id="{D0E7C134-1DC2-4BEC-9FD6-A114F141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BE8"/>
                </a:solidFill>
              </a:defRPr>
            </a:pPr>
            <a:r>
              <a:rPr sz="1875" b="1">
                <a:solidFill>
                  <a:srgbClr val="FFFBE8"/>
                </a:solidFill>
              </a:rPr>
              <a:t>TRACE: row 0 → columns 0, 1, 2, 3 · then row 1 begins</a:t>
            </a:r>
          </a:p>
        </p:txBody>
      </p:sp>
    </p:spTree>
    <p:extLst>
      <p:ext uri="{BB962C8B-B14F-4D97-AF65-F5344CB8AC3E}">
        <p14:creationId xmlns:p14="http://schemas.microsoft.com/office/powerpoint/2010/main" val="11312563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36062B43-EC6D-4B6E-921B-FC767EAB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TEXT-CODE BRIDGE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0E97FFD0-6D95-4DA1-85D2-DFEE48D9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DAY 1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CAEFD05-6149-4435-8357-5C5F68F5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5126676-7FE9-40FE-99FC-5C243174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5DE22C7-3E18-4F49-A11F-39EB2927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One calculation places every supply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85EA0A99-97D9-49FB-A0F9-B6314802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The formula uses both loop variables instead of twelve separate positions.</a:t>
            </a:r>
          </a:p>
        </p:txBody>
      </p:sp>
      <p:sp>
        <p:nvSpPr>
          <p:cNvPr id="7" name="position-frame">
            <a:extLst xmlns:a="http://schemas.openxmlformats.org/drawingml/2006/main">
              <a:ext uri="{FF2B5EF4-FFF2-40B4-BE49-F238E27FC236}">
                <a16:creationId xmlns:a16="http://schemas.microsoft.com/office/drawing/2014/main" id="{DE4839D8-DEFD-4B01-9F9A-C96E32AB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47875"/>
            <a:ext cx="4476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7101E"/>
          </a:solidFill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8" name="position">
            <a:extLst xmlns:a="http://schemas.openxmlformats.org/drawingml/2006/main">
              <a:ext uri="{FF2B5EF4-FFF2-40B4-BE49-F238E27FC236}">
                <a16:creationId xmlns:a16="http://schemas.microsoft.com/office/drawing/2014/main" id="{B5704DFB-DB1D-4458-84FA-584DC3DC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219325"/>
            <a:ext cx="40576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E8FFF8"/>
                </a:solidFill>
              </a:defRPr>
            </a:pPr>
            <a:r>
              <a:rPr sz="2550" b="0">
                <a:solidFill>
                  <a:srgbClr val="E8FFF8"/>
                </a:solidFill>
              </a:rPr>
              <a:t>x = 25 + column × 35</a:t>
            </a:r>
          </a:p>
          <a:p xmlns:a="http://schemas.openxmlformats.org/drawingml/2006/main">
            <a:pPr algn="l">
              <a:defRPr sz="2550" b="0">
                <a:solidFill>
                  <a:srgbClr val="E8FFF8"/>
                </a:solidFill>
              </a:defRPr>
            </a:pPr>
            <a:r>
              <a:rPr sz="2550" b="0">
                <a:solidFill>
                  <a:srgbClr val="E8FFF8"/>
                </a:solidFill>
              </a:rPr>
              <a:t>y = 25 + row × 35</a:t>
            </a:r>
          </a:p>
        </p:txBody>
      </p:sp>
      <p:sp>
        <p:nvSpPr>
          <p:cNvPr id="9" name="calc">
            <a:extLst xmlns:a="http://schemas.openxmlformats.org/drawingml/2006/main">
              <a:ext uri="{FF2B5EF4-FFF2-40B4-BE49-F238E27FC236}">
                <a16:creationId xmlns:a16="http://schemas.microsoft.com/office/drawing/2014/main" id="{CB383101-6CD4-4009-8CF4-FFA6E373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37147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10" name="calc-heading">
            <a:extLst xmlns:a="http://schemas.openxmlformats.org/drawingml/2006/main">
              <a:ext uri="{FF2B5EF4-FFF2-40B4-BE49-F238E27FC236}">
                <a16:creationId xmlns:a16="http://schemas.microsoft.com/office/drawing/2014/main" id="{7C5F3D72-13EA-428C-B2A7-893D1743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24075"/>
            <a:ext cx="3295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TRY row = 2, column = 3</a:t>
            </a:r>
          </a:p>
        </p:txBody>
      </p:sp>
      <p:sp>
        <p:nvSpPr>
          <p:cNvPr id="11" name="calc-body">
            <a:extLst xmlns:a="http://schemas.openxmlformats.org/drawingml/2006/main">
              <a:ext uri="{FF2B5EF4-FFF2-40B4-BE49-F238E27FC236}">
                <a16:creationId xmlns:a16="http://schemas.microsoft.com/office/drawing/2014/main" id="{62D4C31E-C46C-4D0C-8C14-D5EBC5C7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62225"/>
            <a:ext cx="32956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x = 25 + 3 × 35 = 130</a:t>
            </a:r>
          </a:p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y = 25 + 2 × 35 = 95</a:t>
            </a:r>
          </a:p>
        </p:txBody>
      </p:sp>
      <p:sp>
        <p:nvSpPr>
          <p:cNvPr id="12" name="meaning">
            <a:extLst xmlns:a="http://schemas.openxmlformats.org/drawingml/2006/main">
              <a:ext uri="{FF2B5EF4-FFF2-40B4-BE49-F238E27FC236}">
                <a16:creationId xmlns:a16="http://schemas.microsoft.com/office/drawing/2014/main" id="{07A3EEB7-BFA6-4BCF-BD96-81EC5CFA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The same formula works for every cell in the grid.</a:t>
            </a:r>
          </a:p>
        </p:txBody>
      </p:sp>
    </p:spTree>
    <p:extLst>
      <p:ext uri="{BB962C8B-B14F-4D97-AF65-F5344CB8AC3E}">
        <p14:creationId xmlns:p14="http://schemas.microsoft.com/office/powerpoint/2010/main" val="19734236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9ED577D7-76E3-4542-A705-6A19DF1D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TEXT-CODE BRIDGE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322B1EBB-FCBE-48AD-9C08-BDB9123B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DAY 1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F3E3E28-1378-4C78-B2DF-31777AEB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4E84F98-38A1-47B3-95EA-B92FBF8C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0F2EF49-276B-4B0D-95B0-4441C339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Run the grid and compare it with the prediction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F173CC33-25ED-42CB-8B9A-88554B7F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A 3 × 4 grid should produce 12 supply markers.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9241e89c94f59"/>
          <a:stretch xmlns:a="http://schemas.openxmlformats.org/drawingml/2006/main"/>
        </p:blipFill>
        <p:spPr>
          <a:xfrm xmlns:a="http://schemas.openxmlformats.org/drawingml/2006/main">
            <a:off x="762000" y="1717477"/>
            <a:ext cx="7524750" cy="4232672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8" name="makecode-result-border">
            <a:extLst xmlns:a="http://schemas.openxmlformats.org/drawingml/2006/main">
              <a:ext uri="{FF2B5EF4-FFF2-40B4-BE49-F238E27FC236}">
                <a16:creationId xmlns:a16="http://schemas.microsoft.com/office/drawing/2014/main" id="{0A1A86A3-2262-459C-AB6C-9003CC52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524750" cy="4238625"/>
          </a:xfrm>
          <a:prstGeom xmlns:a="http://schemas.openxmlformats.org/drawingml/2006/main" prst="roundRect">
            <a:avLst>
              <a:gd name="adj" fmla="val 3146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9" name="evidence">
            <a:extLst xmlns:a="http://schemas.openxmlformats.org/drawingml/2006/main">
              <a:ext uri="{FF2B5EF4-FFF2-40B4-BE49-F238E27FC236}">
                <a16:creationId xmlns:a16="http://schemas.microsoft.com/office/drawing/2014/main" id="{9BE8BCDF-083D-4C99-BC48-B6E49E08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857500" cy="333375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54B68A"/>
            </a:solidFill>
            <a:prstDash val="solid"/>
          </a:ln>
        </p:spPr>
      </p:sp>
      <p:sp>
        <p:nvSpPr>
          <p:cNvPr id="10" name="evidence-heading">
            <a:extLst xmlns:a="http://schemas.openxmlformats.org/drawingml/2006/main">
              <a:ext uri="{FF2B5EF4-FFF2-40B4-BE49-F238E27FC236}">
                <a16:creationId xmlns:a16="http://schemas.microsoft.com/office/drawing/2014/main" id="{C0E82175-3974-4D74-8405-BBB3169C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717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EVIDENCE</a:t>
            </a:r>
          </a:p>
        </p:txBody>
      </p:sp>
      <p:sp>
        <p:nvSpPr>
          <p:cNvPr id="11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DB0A0545-E98B-4225-9DAC-1ADA8213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09850"/>
            <a:ext cx="2438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Grid screenshot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Visible score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Predicted total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Observed total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One sentence explaining the nested loops</a:t>
            </a:r>
          </a:p>
        </p:txBody>
      </p:sp>
    </p:spTree>
    <p:extLst>
      <p:ext uri="{BB962C8B-B14F-4D97-AF65-F5344CB8AC3E}">
        <p14:creationId xmlns:p14="http://schemas.microsoft.com/office/powerpoint/2010/main" val="972665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9FD491DB-5035-4756-A38F-A5EF1153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TEXT-CODE BRIDGE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8DE5556B-B96E-49AA-BAB9-D089ECAD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DAY 1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30587A5-2D40-4559-997A-6B9FB4C9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96C6667-3747-4893-8DED-525572A9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EA5C797-EB8E-4069-A98E-DEFC23F3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Day 1: trace, predict, and repair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EA5EC211-6F1A-4E7A-9C20-B402AB44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Students read working text code before independently changing it.</a:t>
            </a:r>
          </a:p>
        </p:txBody>
      </p:sp>
      <p:sp>
        <p:nvSpPr>
          <p:cNvPr id="7" name="trace-task">
            <a:extLst xmlns:a="http://schemas.openxmlformats.org/drawingml/2006/main">
              <a:ext uri="{FF2B5EF4-FFF2-40B4-BE49-F238E27FC236}">
                <a16:creationId xmlns:a16="http://schemas.microsoft.com/office/drawing/2014/main" id="{931A4B76-6F47-49EA-B765-A4670FAF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23850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8" name="trace-task-heading">
            <a:extLst xmlns:a="http://schemas.openxmlformats.org/drawingml/2006/main">
              <a:ext uri="{FF2B5EF4-FFF2-40B4-BE49-F238E27FC236}">
                <a16:creationId xmlns:a16="http://schemas.microsoft.com/office/drawing/2014/main" id="{E0210706-DCD6-40A8-8863-CC0110D2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TRACE</a:t>
            </a:r>
          </a:p>
        </p:txBody>
      </p:sp>
      <p:sp>
        <p:nvSpPr>
          <p:cNvPr id="9" name="trace-task-body">
            <a:extLst xmlns:a="http://schemas.openxmlformats.org/drawingml/2006/main">
              <a:ext uri="{FF2B5EF4-FFF2-40B4-BE49-F238E27FC236}">
                <a16:creationId xmlns:a16="http://schemas.microsoft.com/office/drawing/2014/main" id="{5035C989-9A61-4175-B550-94C3970F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Label the outer loop, inner loop, variables, data types, and operations.</a:t>
            </a:r>
          </a:p>
        </p:txBody>
      </p:sp>
      <p:sp>
        <p:nvSpPr>
          <p:cNvPr id="10" name="predict-task">
            <a:extLst xmlns:a="http://schemas.openxmlformats.org/drawingml/2006/main">
              <a:ext uri="{FF2B5EF4-FFF2-40B4-BE49-F238E27FC236}">
                <a16:creationId xmlns:a16="http://schemas.microsoft.com/office/drawing/2014/main" id="{BA2B3BA9-33FE-4E75-ADA3-F5DCC990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A970FF"/>
            </a:solidFill>
            <a:prstDash val="solid"/>
          </a:ln>
        </p:spPr>
      </p:sp>
      <p:sp>
        <p:nvSpPr>
          <p:cNvPr id="11" name="predict-task-heading">
            <a:extLst xmlns:a="http://schemas.openxmlformats.org/drawingml/2006/main">
              <a:ext uri="{FF2B5EF4-FFF2-40B4-BE49-F238E27FC236}">
                <a16:creationId xmlns:a16="http://schemas.microsoft.com/office/drawing/2014/main" id="{A74FFC8E-3DB2-4E70-A825-A9ABF907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717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PREDICT</a:t>
            </a:r>
          </a:p>
        </p:txBody>
      </p:sp>
      <p:sp>
        <p:nvSpPr>
          <p:cNvPr id="12" name="predict-task-body">
            <a:extLst xmlns:a="http://schemas.openxmlformats.org/drawingml/2006/main">
              <a:ext uri="{FF2B5EF4-FFF2-40B4-BE49-F238E27FC236}">
                <a16:creationId xmlns:a16="http://schemas.microsoft.com/office/drawing/2014/main" id="{F8BB2DCA-69EE-4E2A-8D00-43E9D92C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98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Calculate suppliesPlaced and one x/y position before Run.</a:t>
            </a:r>
          </a:p>
        </p:txBody>
      </p:sp>
      <p:sp>
        <p:nvSpPr>
          <p:cNvPr id="13" name="repair-task">
            <a:extLst xmlns:a="http://schemas.openxmlformats.org/drawingml/2006/main">
              <a:ext uri="{FF2B5EF4-FFF2-40B4-BE49-F238E27FC236}">
                <a16:creationId xmlns:a16="http://schemas.microsoft.com/office/drawing/2014/main" id="{64CCBFC7-9B48-45F0-A8E2-5FBFDFA3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23850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FF6FAE"/>
            </a:solidFill>
            <a:prstDash val="solid"/>
          </a:ln>
        </p:spPr>
      </p:sp>
      <p:sp>
        <p:nvSpPr>
          <p:cNvPr id="14" name="repair-task-heading">
            <a:extLst xmlns:a="http://schemas.openxmlformats.org/drawingml/2006/main">
              <a:ext uri="{FF2B5EF4-FFF2-40B4-BE49-F238E27FC236}">
                <a16:creationId xmlns:a16="http://schemas.microsoft.com/office/drawing/2014/main" id="{247F7081-8EE0-4151-BBE0-831ACE4A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717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REPAIR</a:t>
            </a:r>
          </a:p>
        </p:txBody>
      </p:sp>
      <p:sp>
        <p:nvSpPr>
          <p:cNvPr id="15" name="repair-task-body">
            <a:extLst xmlns:a="http://schemas.openxmlformats.org/drawingml/2006/main">
              <a:ext uri="{FF2B5EF4-FFF2-40B4-BE49-F238E27FC236}">
                <a16:creationId xmlns:a16="http://schemas.microsoft.com/office/drawing/2014/main" id="{4CDFBF54-BFB8-4C07-B572-4CA05EA5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098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Correct one teacher-provided loop or value bug and record the evidence.</a:t>
            </a:r>
          </a:p>
        </p:txBody>
      </p:sp>
    </p:spTree>
    <p:extLst>
      <p:ext uri="{BB962C8B-B14F-4D97-AF65-F5344CB8AC3E}">
        <p14:creationId xmlns:p14="http://schemas.microsoft.com/office/powerpoint/2010/main" val="202600193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D83FEF26-7788-4141-9F35-FB970490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TEXT-CODE BRIDGE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5FF76DF4-EA4A-4EE1-8FF2-AA25BA40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DAY 2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9F8067F-D25B-4685-92DB-324E267A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BFAC908-555D-45EA-8AF1-FF7CD68C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663C8F0-AF2A-42D8-ADDD-26224E64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Day 2: change the grid with purpose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AF71AF46-4B39-4606-9443-A405ABA3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The new version must still use text, named variables, operations, and nested loops.</a:t>
            </a:r>
          </a:p>
        </p:txBody>
      </p:sp>
      <p:sp>
        <p:nvSpPr>
          <p:cNvPr id="7" name="core">
            <a:extLst xmlns:a="http://schemas.openxmlformats.org/drawingml/2006/main">
              <a:ext uri="{FF2B5EF4-FFF2-40B4-BE49-F238E27FC236}">
                <a16:creationId xmlns:a16="http://schemas.microsoft.com/office/drawing/2014/main" id="{B76DB040-B2D7-4447-B9D3-D4318DB0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3238500" cy="342900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8" name="core-heading">
            <a:extLst xmlns:a="http://schemas.openxmlformats.org/drawingml/2006/main">
              <a:ext uri="{FF2B5EF4-FFF2-40B4-BE49-F238E27FC236}">
                <a16:creationId xmlns:a16="http://schemas.microsoft.com/office/drawing/2014/main" id="{EEA11FF9-28E2-4BD1-944C-D4305651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28825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CORE</a:t>
            </a:r>
          </a:p>
        </p:txBody>
      </p:sp>
      <p:sp>
        <p:nvSpPr>
          <p:cNvPr id="9" name="core-body">
            <a:extLst xmlns:a="http://schemas.openxmlformats.org/drawingml/2006/main">
              <a:ext uri="{FF2B5EF4-FFF2-40B4-BE49-F238E27FC236}">
                <a16:creationId xmlns:a16="http://schemas.microsoft.com/office/drawing/2014/main" id="{BC18FA17-5914-4B6F-A128-D80736B8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28194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Change rows and columns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Predict the new total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Change spacing without overlap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Run and revise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Explain both loops</a:t>
            </a:r>
          </a:p>
        </p:txBody>
      </p:sp>
      <p:sp>
        <p:nvSpPr>
          <p:cNvPr id="10" name="support">
            <a:extLst xmlns:a="http://schemas.openxmlformats.org/drawingml/2006/main">
              <a:ext uri="{FF2B5EF4-FFF2-40B4-BE49-F238E27FC236}">
                <a16:creationId xmlns:a16="http://schemas.microsoft.com/office/drawing/2014/main" id="{E810E0AD-ED80-4508-98B6-405D91C0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57375"/>
            <a:ext cx="3238500" cy="342900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54B68A"/>
            </a:solidFill>
            <a:prstDash val="solid"/>
          </a:ln>
        </p:spPr>
      </p:sp>
      <p:sp>
        <p:nvSpPr>
          <p:cNvPr id="11" name="support-heading">
            <a:extLst xmlns:a="http://schemas.openxmlformats.org/drawingml/2006/main">
              <a:ext uri="{FF2B5EF4-FFF2-40B4-BE49-F238E27FC236}">
                <a16:creationId xmlns:a16="http://schemas.microsoft.com/office/drawing/2014/main" id="{6AD02A8F-E34B-4155-A90C-EC8CD376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28825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SUPPORTED</a:t>
            </a:r>
          </a:p>
        </p:txBody>
      </p:sp>
      <p:sp>
        <p:nvSpPr>
          <p:cNvPr id="12" name="support-body">
            <a:extLst xmlns:a="http://schemas.openxmlformats.org/drawingml/2006/main">
              <a:ext uri="{FF2B5EF4-FFF2-40B4-BE49-F238E27FC236}">
                <a16:creationId xmlns:a16="http://schemas.microsoft.com/office/drawing/2014/main" id="{A2DF329A-AB5A-4164-AC4E-F09C55FE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66975"/>
            <a:ext cx="28194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Use a partially completed code frame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Choose from tested dimensions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Trace with a row/column table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Explain orally or in writing</a:t>
            </a:r>
          </a:p>
        </p:txBody>
      </p:sp>
      <p:sp>
        <p:nvSpPr>
          <p:cNvPr id="13" name="extend">
            <a:extLst xmlns:a="http://schemas.openxmlformats.org/drawingml/2006/main">
              <a:ext uri="{FF2B5EF4-FFF2-40B4-BE49-F238E27FC236}">
                <a16:creationId xmlns:a16="http://schemas.microsoft.com/office/drawing/2014/main" id="{7387A73B-FFAF-4FF9-B9F4-579F01EC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57375"/>
            <a:ext cx="3238500" cy="342900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14" name="extend-heading">
            <a:extLst xmlns:a="http://schemas.openxmlformats.org/drawingml/2006/main">
              <a:ext uri="{FF2B5EF4-FFF2-40B4-BE49-F238E27FC236}">
                <a16:creationId xmlns:a16="http://schemas.microsoft.com/office/drawing/2014/main" id="{53BE4C9D-C8D1-49DC-8F85-5F50DB8F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28825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EXTENSION</a:t>
            </a:r>
          </a:p>
        </p:txBody>
      </p:sp>
      <p:sp>
        <p:nvSpPr>
          <p:cNvPr id="15" name="extend-body">
            <a:extLst xmlns:a="http://schemas.openxmlformats.org/drawingml/2006/main">
              <a:ext uri="{FF2B5EF4-FFF2-40B4-BE49-F238E27FC236}">
                <a16:creationId xmlns:a16="http://schemas.microsoft.com/office/drawing/2014/main" id="{EFCF94D5-AF2B-4BA0-A087-C7FFBC61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66975"/>
            <a:ext cx="28194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Use priorityMode to change color or placement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Add a reusable function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Create one blocked cell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Explain the new subproblem</a:t>
            </a:r>
          </a:p>
        </p:txBody>
      </p:sp>
    </p:spTree>
    <p:extLst>
      <p:ext uri="{BB962C8B-B14F-4D97-AF65-F5344CB8AC3E}">
        <p14:creationId xmlns:p14="http://schemas.microsoft.com/office/powerpoint/2010/main" val="31472790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095DF7B2-CB04-40A1-BA43-BA84B674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TEXT-CODE BRIDGE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B34818FF-149B-4F3D-9C07-B6677798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DAY 2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AE0ADB4-DF65-4EBF-91A9-12413093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75C814B-DD11-4A03-B1BC-7117082E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583942A-8C61-441F-8D0D-8176A03A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Evidence must show both code and thinking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9C87FF7D-D627-44E8-A891-85E6893E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The final screenshot is necessary, but it is not the whole demonstration.</a:t>
            </a:r>
          </a:p>
        </p:txBody>
      </p:sp>
      <p:sp>
        <p:nvSpPr>
          <p:cNvPr id="7" name="r1">
            <a:extLst xmlns:a="http://schemas.openxmlformats.org/drawingml/2006/main">
              <a:ext uri="{FF2B5EF4-FFF2-40B4-BE49-F238E27FC236}">
                <a16:creationId xmlns:a16="http://schemas.microsoft.com/office/drawing/2014/main" id="{85C666E4-6FFE-4810-93D8-FB4FAC4F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5143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8" name="r1-heading">
            <a:extLst xmlns:a="http://schemas.openxmlformats.org/drawingml/2006/main">
              <a:ext uri="{FF2B5EF4-FFF2-40B4-BE49-F238E27FC236}">
                <a16:creationId xmlns:a16="http://schemas.microsoft.com/office/drawing/2014/main" id="{68152ACE-8855-4891-BEBE-F3E2ABA0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TEXT CODE</a:t>
            </a:r>
          </a:p>
        </p:txBody>
      </p:sp>
      <p:sp>
        <p:nvSpPr>
          <p:cNvPr id="9" name="r1-body">
            <a:extLst xmlns:a="http://schemas.openxmlformats.org/drawingml/2006/main">
              <a:ext uri="{FF2B5EF4-FFF2-40B4-BE49-F238E27FC236}">
                <a16:creationId xmlns:a16="http://schemas.microsoft.com/office/drawing/2014/main" id="{3720168A-ED69-4900-BA82-8914579B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724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Readable JavaScript with two nested loops and named variables.</a:t>
            </a:r>
          </a:p>
        </p:txBody>
      </p:sp>
      <p:sp>
        <p:nvSpPr>
          <p:cNvPr id="10" name="r2">
            <a:extLst xmlns:a="http://schemas.openxmlformats.org/drawingml/2006/main">
              <a:ext uri="{FF2B5EF4-FFF2-40B4-BE49-F238E27FC236}">
                <a16:creationId xmlns:a16="http://schemas.microsoft.com/office/drawing/2014/main" id="{14EC69BA-931B-489F-9F13-13DD651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5143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A970FF"/>
            </a:solidFill>
            <a:prstDash val="solid"/>
          </a:ln>
        </p:spPr>
      </p:sp>
      <p:sp>
        <p:nvSpPr>
          <p:cNvPr id="11" name="r2-heading">
            <a:extLst xmlns:a="http://schemas.openxmlformats.org/drawingml/2006/main">
              <a:ext uri="{FF2B5EF4-FFF2-40B4-BE49-F238E27FC236}">
                <a16:creationId xmlns:a16="http://schemas.microsoft.com/office/drawing/2014/main" id="{8DFCD522-CE02-4C2F-B77B-FEC82BA5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764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DATA + OPERATIONS</a:t>
            </a:r>
          </a:p>
        </p:txBody>
      </p:sp>
      <p:sp>
        <p:nvSpPr>
          <p:cNvPr id="12" name="r2-body">
            <a:extLst xmlns:a="http://schemas.openxmlformats.org/drawingml/2006/main">
              <a:ext uri="{FF2B5EF4-FFF2-40B4-BE49-F238E27FC236}">
                <a16:creationId xmlns:a16="http://schemas.microsoft.com/office/drawing/2014/main" id="{9B327F13-12A5-4DDF-A0A2-F3095FBD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14600"/>
            <a:ext cx="4724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String, number, Boolean, and visible operations on values.</a:t>
            </a:r>
          </a:p>
        </p:txBody>
      </p:sp>
      <p:sp>
        <p:nvSpPr>
          <p:cNvPr id="13" name="r3">
            <a:extLst xmlns:a="http://schemas.openxmlformats.org/drawingml/2006/main">
              <a:ext uri="{FF2B5EF4-FFF2-40B4-BE49-F238E27FC236}">
                <a16:creationId xmlns:a16="http://schemas.microsoft.com/office/drawing/2014/main" id="{B92B4077-0FB0-4B04-8FAE-9A1CC083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5143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FF6FAE"/>
            </a:solidFill>
            <a:prstDash val="solid"/>
          </a:ln>
        </p:spPr>
      </p:sp>
      <p:sp>
        <p:nvSpPr>
          <p:cNvPr id="14" name="r3-heading">
            <a:extLst xmlns:a="http://schemas.openxmlformats.org/drawingml/2006/main">
              <a:ext uri="{FF2B5EF4-FFF2-40B4-BE49-F238E27FC236}">
                <a16:creationId xmlns:a16="http://schemas.microsoft.com/office/drawing/2014/main" id="{459DB119-2E2D-4156-BC3C-811A4650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2907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 EVIDENCE</a:t>
            </a:r>
          </a:p>
        </p:txBody>
      </p:sp>
      <p:sp>
        <p:nvSpPr>
          <p:cNvPr id="15" name="r3-body">
            <a:extLst xmlns:a="http://schemas.openxmlformats.org/drawingml/2006/main">
              <a:ext uri="{FF2B5EF4-FFF2-40B4-BE49-F238E27FC236}">
                <a16:creationId xmlns:a16="http://schemas.microsoft.com/office/drawing/2014/main" id="{30C38E18-B796-4484-9C86-B9812A95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67225"/>
            <a:ext cx="4724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Prediction, screenshot, one controlled change, and observed result.</a:t>
            </a:r>
          </a:p>
        </p:txBody>
      </p:sp>
      <p:sp>
        <p:nvSpPr>
          <p:cNvPr id="16" name="r4">
            <a:extLst xmlns:a="http://schemas.openxmlformats.org/drawingml/2006/main">
              <a:ext uri="{FF2B5EF4-FFF2-40B4-BE49-F238E27FC236}">
                <a16:creationId xmlns:a16="http://schemas.microsoft.com/office/drawing/2014/main" id="{91EC6479-B2B5-4621-9F03-C68608C0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5143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17" name="r4-heading">
            <a:extLst xmlns:a="http://schemas.openxmlformats.org/drawingml/2006/main">
              <a:ext uri="{FF2B5EF4-FFF2-40B4-BE49-F238E27FC236}">
                <a16:creationId xmlns:a16="http://schemas.microsoft.com/office/drawing/2014/main" id="{D642E0F4-B0BF-4E95-9005-5A2E41AC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2907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EXPLANATION</a:t>
            </a:r>
          </a:p>
        </p:txBody>
      </p:sp>
      <p:sp>
        <p:nvSpPr>
          <p:cNvPr id="18" name="r4-body">
            <a:extLst xmlns:a="http://schemas.openxmlformats.org/drawingml/2006/main">
              <a:ext uri="{FF2B5EF4-FFF2-40B4-BE49-F238E27FC236}">
                <a16:creationId xmlns:a16="http://schemas.microsoft.com/office/drawing/2014/main" id="{1D86EA9B-E3DC-4C13-B2C1-A1DE9E46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67225"/>
            <a:ext cx="4724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How the loops address row and column subproblems in the real context.</a:t>
            </a:r>
          </a:p>
        </p:txBody>
      </p:sp>
    </p:spTree>
    <p:extLst>
      <p:ext uri="{BB962C8B-B14F-4D97-AF65-F5344CB8AC3E}">
        <p14:creationId xmlns:p14="http://schemas.microsoft.com/office/powerpoint/2010/main" val="62939612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4F023E88-1AED-46BA-8C21-057A2BA2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RVR TRANSFER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ADA3CDDB-1F5F-4044-8034-87877DF6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DAY 1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7565F3F-2414-4617-A51A-A0A1FC64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EE673DC-7DF3-46B1-ACCA-7E629C7F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5FD69EE-14F4-4918-BF05-44A3022B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Reuse the same planning routine with RVR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AC9AACFB-15A8-411C-AF49-2C81BF45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Complete Passport Checkpoint 5 before the drawing mission.</a:t>
            </a:r>
          </a:p>
        </p:txBody>
      </p:sp>
      <p:sp>
        <p:nvSpPr>
          <p:cNvPr id="7" name="flow-0">
            <a:extLst xmlns:a="http://schemas.openxmlformats.org/drawingml/2006/main">
              <a:ext uri="{FF2B5EF4-FFF2-40B4-BE49-F238E27FC236}">
                <a16:creationId xmlns:a16="http://schemas.microsoft.com/office/drawing/2014/main" id="{BD8FCBB1-6D47-4C50-8992-B48BB6C2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00B8C8"/>
            </a:solidFill>
            <a:prstDash val="solid"/>
          </a:ln>
        </p:spPr>
      </p:sp>
      <p:sp>
        <p:nvSpPr>
          <p:cNvPr id="8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C759AA69-D922-46E8-87E7-EC639F90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ASSIGN ROLES</a:t>
            </a:r>
          </a:p>
        </p:txBody>
      </p:sp>
      <p:sp>
        <p:nvSpPr>
          <p:cNvPr id="9" name="flow-1">
            <a:extLst xmlns:a="http://schemas.openxmlformats.org/drawingml/2006/main">
              <a:ext uri="{FF2B5EF4-FFF2-40B4-BE49-F238E27FC236}">
                <a16:creationId xmlns:a16="http://schemas.microsoft.com/office/drawing/2014/main" id="{126E95E4-877F-4813-AB81-0CC36E61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09550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54B68A"/>
            </a:solidFill>
            <a:prstDash val="solid"/>
          </a:ln>
        </p:spPr>
      </p:sp>
      <p:sp>
        <p:nvSpPr>
          <p:cNvPr id="10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004D79D9-48A9-461F-9F18-F1F32F02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830" y="228600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SET MILESTONES</a:t>
            </a:r>
          </a:p>
        </p:txBody>
      </p:sp>
      <p:sp>
        <p:nvSpPr>
          <p:cNvPr id="11" name="flow-2">
            <a:extLst xmlns:a="http://schemas.openxmlformats.org/drawingml/2006/main">
              <a:ext uri="{FF2B5EF4-FFF2-40B4-BE49-F238E27FC236}">
                <a16:creationId xmlns:a16="http://schemas.microsoft.com/office/drawing/2014/main" id="{9CAA1D25-AF62-4448-A072-84418620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860" y="209550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A970FF"/>
            </a:solidFill>
            <a:prstDash val="solid"/>
          </a:ln>
        </p:spPr>
      </p:sp>
      <p:sp>
        <p:nvSpPr>
          <p:cNvPr id="12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34E69A9E-031F-48E9-B08B-DBD89398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28600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WRITE PSEUDOCODE</a:t>
            </a:r>
          </a:p>
        </p:txBody>
      </p:sp>
      <p:sp>
        <p:nvSpPr>
          <p:cNvPr id="13" name="flow-3">
            <a:extLst xmlns:a="http://schemas.openxmlformats.org/drawingml/2006/main">
              <a:ext uri="{FF2B5EF4-FFF2-40B4-BE49-F238E27FC236}">
                <a16:creationId xmlns:a16="http://schemas.microsoft.com/office/drawing/2014/main" id="{99564F51-4DCA-4148-86FA-367B3295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209550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FF6FAE"/>
            </a:solidFill>
            <a:prstDash val="solid"/>
          </a:ln>
        </p:spPr>
      </p:sp>
      <p:sp>
        <p:nvSpPr>
          <p:cNvPr id="14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10C3752C-6C46-46FD-A22B-3A868648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28600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RUN LITERALLY</a:t>
            </a:r>
          </a:p>
        </p:txBody>
      </p:sp>
      <p:sp>
        <p:nvSpPr>
          <p:cNvPr id="15" name="flow-4">
            <a:extLst xmlns:a="http://schemas.openxmlformats.org/drawingml/2006/main">
              <a:ext uri="{FF2B5EF4-FFF2-40B4-BE49-F238E27FC236}">
                <a16:creationId xmlns:a16="http://schemas.microsoft.com/office/drawing/2014/main" id="{D52A1CDC-D692-4F8F-A9C4-797C4A9A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20" y="2095500"/>
            <a:ext cx="208788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28575">
            <a:solidFill>
              <a:srgbClr val="FFD166"/>
            </a:solidFill>
            <a:prstDash val="solid"/>
          </a:ln>
        </p:spPr>
      </p:sp>
      <p:sp>
        <p:nvSpPr>
          <p:cNvPr id="16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352C8A9D-FD76-4364-AB58-3730D621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820" y="2286000"/>
            <a:ext cx="18592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REVISE</a:t>
            </a:r>
          </a:p>
        </p:txBody>
      </p:sp>
      <p:sp>
        <p:nvSpPr>
          <p:cNvPr id="17" name="roles">
            <a:extLst xmlns:a="http://schemas.openxmlformats.org/drawingml/2006/main">
              <a:ext uri="{FF2B5EF4-FFF2-40B4-BE49-F238E27FC236}">
                <a16:creationId xmlns:a16="http://schemas.microsoft.com/office/drawing/2014/main" id="{996B4779-44F4-4277-94BA-C937CDCB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44767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18" name="roles-heading">
            <a:extLst xmlns:a="http://schemas.openxmlformats.org/drawingml/2006/main">
              <a:ext uri="{FF2B5EF4-FFF2-40B4-BE49-F238E27FC236}">
                <a16:creationId xmlns:a16="http://schemas.microsoft.com/office/drawing/2014/main" id="{2E64259F-85A5-42E8-B155-62C0FC77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ROLES</a:t>
            </a:r>
          </a:p>
        </p:txBody>
      </p:sp>
      <p:sp>
        <p:nvSpPr>
          <p:cNvPr id="19" name="roles-body">
            <a:extLst xmlns:a="http://schemas.openxmlformats.org/drawingml/2006/main">
              <a:ext uri="{FF2B5EF4-FFF2-40B4-BE49-F238E27FC236}">
                <a16:creationId xmlns:a16="http://schemas.microsoft.com/office/drawing/2014/main" id="{73E4A36D-0681-49A7-9A96-4E955D91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4057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Planner · programmer · tester/evidence lead</a:t>
            </a:r>
          </a:p>
        </p:txBody>
      </p:sp>
      <p:sp>
        <p:nvSpPr>
          <p:cNvPr id="20" name="timeline">
            <a:extLst xmlns:a="http://schemas.openxmlformats.org/drawingml/2006/main">
              <a:ext uri="{FF2B5EF4-FFF2-40B4-BE49-F238E27FC236}">
                <a16:creationId xmlns:a16="http://schemas.microsoft.com/office/drawing/2014/main" id="{ABC79FC5-73C9-4ECA-95F5-B6AC5276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44767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21" name="timeline-heading">
            <a:extLst xmlns:a="http://schemas.openxmlformats.org/drawingml/2006/main">
              <a:ext uri="{FF2B5EF4-FFF2-40B4-BE49-F238E27FC236}">
                <a16:creationId xmlns:a16="http://schemas.microsoft.com/office/drawing/2014/main" id="{F3524ADE-BAD6-4EE2-A943-FE98E1C1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90950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TIMELINE</a:t>
            </a:r>
          </a:p>
        </p:txBody>
      </p:sp>
      <p:sp>
        <p:nvSpPr>
          <p:cNvPr id="22" name="timeline-body">
            <a:extLst xmlns:a="http://schemas.openxmlformats.org/drawingml/2006/main">
              <a:ext uri="{FF2B5EF4-FFF2-40B4-BE49-F238E27FC236}">
                <a16:creationId xmlns:a16="http://schemas.microsoft.com/office/drawing/2014/main" id="{8AE96D5A-8109-410E-8D2B-0BAC3151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29100"/>
            <a:ext cx="4057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Plan approved · first run · revision run</a:t>
            </a:r>
          </a:p>
        </p:txBody>
      </p:sp>
    </p:spTree>
    <p:extLst>
      <p:ext uri="{BB962C8B-B14F-4D97-AF65-F5344CB8AC3E}">
        <p14:creationId xmlns:p14="http://schemas.microsoft.com/office/powerpoint/2010/main" val="212826689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EA412E5B-64A7-45B5-B340-97F10930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RVR TRANSFER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D90ACC5A-3EA3-4D29-9FA7-D58300FE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DAY 1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706ED26-C347-4059-8E1B-1233A827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68F9A51-8048-4E7C-BD38-97417A9D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0C10661-723D-44F6-87ED-16070562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Let the robot expose the missing step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2BA91BCF-37EF-4E57-B84C-793A4F48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The physical result makes vague pseudocode visible.</a:t>
            </a:r>
          </a:p>
        </p:txBody>
      </p:sp>
      <p:sp>
        <p:nvSpPr>
          <p:cNvPr id="7" name="plan">
            <a:extLst xmlns:a="http://schemas.openxmlformats.org/drawingml/2006/main">
              <a:ext uri="{FF2B5EF4-FFF2-40B4-BE49-F238E27FC236}">
                <a16:creationId xmlns:a16="http://schemas.microsoft.com/office/drawing/2014/main" id="{E97D4D3C-7A81-4D10-BF67-D7D7AC4F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8" name="plan-heading">
            <a:extLst xmlns:a="http://schemas.openxmlformats.org/drawingml/2006/main">
              <a:ext uri="{FF2B5EF4-FFF2-40B4-BE49-F238E27FC236}">
                <a16:creationId xmlns:a16="http://schemas.microsoft.com/office/drawing/2014/main" id="{32B66E44-DDDF-4BE5-9724-7C2BC899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PLAN</a:t>
            </a:r>
          </a:p>
        </p:txBody>
      </p:sp>
      <p:sp>
        <p:nvSpPr>
          <p:cNvPr id="9" name="plan-body">
            <a:extLst xmlns:a="http://schemas.openxmlformats.org/drawingml/2006/main">
              <a:ext uri="{FF2B5EF4-FFF2-40B4-BE49-F238E27FC236}">
                <a16:creationId xmlns:a16="http://schemas.microsoft.com/office/drawing/2014/main" id="{602EFBFF-F111-43BE-AD0E-5D275696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7241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What should the robot draw?</a:t>
            </a:r>
          </a:p>
        </p:txBody>
      </p:sp>
      <p:sp>
        <p:nvSpPr>
          <p:cNvPr id="10" name="run">
            <a:extLst xmlns:a="http://schemas.openxmlformats.org/drawingml/2006/main">
              <a:ext uri="{FF2B5EF4-FFF2-40B4-BE49-F238E27FC236}">
                <a16:creationId xmlns:a16="http://schemas.microsoft.com/office/drawing/2014/main" id="{FB56652B-C55E-4969-8328-B92BD276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A970FF"/>
            </a:solidFill>
            <a:prstDash val="solid"/>
          </a:ln>
        </p:spPr>
      </p:sp>
      <p:sp>
        <p:nvSpPr>
          <p:cNvPr id="11" name="run-heading">
            <a:extLst xmlns:a="http://schemas.openxmlformats.org/drawingml/2006/main">
              <a:ext uri="{FF2B5EF4-FFF2-40B4-BE49-F238E27FC236}">
                <a16:creationId xmlns:a16="http://schemas.microsoft.com/office/drawing/2014/main" id="{C9736816-F025-49A0-B3BE-926754E2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669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RUN</a:t>
            </a:r>
          </a:p>
        </p:txBody>
      </p:sp>
      <p:sp>
        <p:nvSpPr>
          <p:cNvPr id="12" name="run-body">
            <a:extLst xmlns:a="http://schemas.openxmlformats.org/drawingml/2006/main">
              <a:ext uri="{FF2B5EF4-FFF2-40B4-BE49-F238E27FC236}">
                <a16:creationId xmlns:a16="http://schemas.microsoft.com/office/drawing/2014/main" id="{16FB1825-1545-418B-8CC2-A25EF597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05100"/>
            <a:ext cx="27241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What did it actually draw?</a:t>
            </a:r>
          </a:p>
        </p:txBody>
      </p:sp>
      <p:sp>
        <p:nvSpPr>
          <p:cNvPr id="13" name="revise">
            <a:extLst xmlns:a="http://schemas.openxmlformats.org/drawingml/2006/main">
              <a:ext uri="{FF2B5EF4-FFF2-40B4-BE49-F238E27FC236}">
                <a16:creationId xmlns:a16="http://schemas.microsoft.com/office/drawing/2014/main" id="{F7A4A3CD-853B-4C91-8F93-4374F282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14325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14" name="revise-heading">
            <a:extLst xmlns:a="http://schemas.openxmlformats.org/drawingml/2006/main">
              <a:ext uri="{FF2B5EF4-FFF2-40B4-BE49-F238E27FC236}">
                <a16:creationId xmlns:a16="http://schemas.microsoft.com/office/drawing/2014/main" id="{285CBCCE-0823-435F-95E8-394BBCF0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669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REVISE</a:t>
            </a:r>
          </a:p>
        </p:txBody>
      </p:sp>
      <p:sp>
        <p:nvSpPr>
          <p:cNvPr id="15" name="revise-body">
            <a:extLst xmlns:a="http://schemas.openxmlformats.org/drawingml/2006/main">
              <a:ext uri="{FF2B5EF4-FFF2-40B4-BE49-F238E27FC236}">
                <a16:creationId xmlns:a16="http://schemas.microsoft.com/office/drawing/2014/main" id="{36C4A2C4-1295-4B32-AC98-2219BE02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05100"/>
            <a:ext cx="27241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Which exact command, value, or repeated group changed?</a:t>
            </a:r>
          </a:p>
        </p:txBody>
      </p:sp>
      <p:sp>
        <p:nvSpPr>
          <p:cNvPr id="16" name="claim">
            <a:extLst xmlns:a="http://schemas.openxmlformats.org/drawingml/2006/main">
              <a:ext uri="{FF2B5EF4-FFF2-40B4-BE49-F238E27FC236}">
                <a16:creationId xmlns:a16="http://schemas.microsoft.com/office/drawing/2014/main" id="{6F764BB1-9DD1-4A8C-9273-3A7590B5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9587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BE8"/>
                </a:solidFill>
              </a:defRPr>
            </a:pPr>
            <a:r>
              <a:rPr sz="1875" b="1">
                <a:solidFill>
                  <a:srgbClr val="FFFBE8"/>
                </a:solidFill>
              </a:rPr>
              <a:t>“The robot ______ because our pseudocode ______. We revised ______.”</a:t>
            </a:r>
          </a:p>
        </p:txBody>
      </p:sp>
    </p:spTree>
    <p:extLst>
      <p:ext uri="{BB962C8B-B14F-4D97-AF65-F5344CB8AC3E}">
        <p14:creationId xmlns:p14="http://schemas.microsoft.com/office/powerpoint/2010/main" val="42271962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0203F69F-52A4-4EE8-B706-3D1A3D9E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C8"/>
                </a:solidFill>
              </a:defRPr>
            </a:pPr>
            <a:r>
              <a:rPr sz="975" b="1">
                <a:solidFill>
                  <a:srgbClr val="00B8C8"/>
                </a:solidFill>
              </a:rPr>
              <a:t>CLOSE AND TRANSFER</a:t>
            </a:r>
          </a:p>
        </p:txBody>
      </p:sp>
      <p:sp>
        <p:nvSpPr>
          <p:cNvPr id="2" name="day">
            <a:extLst xmlns:a="http://schemas.openxmlformats.org/drawingml/2006/main">
              <a:ext uri="{FF2B5EF4-FFF2-40B4-BE49-F238E27FC236}">
                <a16:creationId xmlns:a16="http://schemas.microsoft.com/office/drawing/2014/main" id="{20CC37D0-BAA4-47E0-BA2E-720496EE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1D6"/>
                </a:solidFill>
              </a:defRPr>
            </a:pPr>
            <a:r>
              <a:rPr sz="975" b="1">
                <a:solidFill>
                  <a:srgbClr val="AFC1D6"/>
                </a:solidFill>
              </a:rPr>
              <a:t>FINAL</a:t>
            </a:r>
          </a:p>
        </p:txBody>
      </p:sp>
      <p:sp>
        <p:nvSpPr>
          <p:cNvPr id="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E15747-B0D8-4E50-8F8B-01EEDDF9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SMART SOLUTIONS · CODING FOUNDATIONS</a:t>
            </a:r>
          </a:p>
        </p:txBody>
      </p:sp>
      <p:sp>
        <p:nvSpPr>
          <p:cNvPr id="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1E6BD28-137E-498C-8D22-CA9066E2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AFC1D6"/>
                </a:solidFill>
              </a:defRPr>
            </a:pPr>
            <a:r>
              <a:rPr sz="675" b="0">
                <a:solidFill>
                  <a:srgbClr val="AFC1D6"/>
                </a:solidFill>
              </a:rPr>
              <a:t>VILS 2027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A373581-2EF7-4A09-AD1F-A7ED52C6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One planning language now connects three coding surfaces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B366E479-8AC2-4EF1-8F64-1B696DA4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D6"/>
                </a:solidFill>
              </a:defRPr>
            </a:pPr>
            <a:r>
              <a:rPr sz="1350" b="0">
                <a:solidFill>
                  <a:srgbClr val="AFC1D6"/>
                </a:solidFill>
              </a:rPr>
              <a:t>Students can explain how the same algorithm moved from blocks to text to a robot.</a:t>
            </a:r>
          </a:p>
        </p:txBody>
      </p:sp>
      <p:sp>
        <p:nvSpPr>
          <p:cNvPr id="7" name="blocks">
            <a:extLst xmlns:a="http://schemas.openxmlformats.org/drawingml/2006/main">
              <a:ext uri="{FF2B5EF4-FFF2-40B4-BE49-F238E27FC236}">
                <a16:creationId xmlns:a16="http://schemas.microsoft.com/office/drawing/2014/main" id="{408F9350-176E-4079-A2E8-A0C5F0DC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23850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00B8C8"/>
            </a:solidFill>
            <a:prstDash val="solid"/>
          </a:ln>
        </p:spPr>
      </p:sp>
      <p:sp>
        <p:nvSpPr>
          <p:cNvPr id="8" name="blocks-heading">
            <a:extLst xmlns:a="http://schemas.openxmlformats.org/drawingml/2006/main">
              <a:ext uri="{FF2B5EF4-FFF2-40B4-BE49-F238E27FC236}">
                <a16:creationId xmlns:a16="http://schemas.microsoft.com/office/drawing/2014/main" id="{B9FE9887-9D22-4D09-8578-75EDCDB2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BLOCKS</a:t>
            </a:r>
          </a:p>
        </p:txBody>
      </p:sp>
      <p:sp>
        <p:nvSpPr>
          <p:cNvPr id="9" name="blocks-body">
            <a:extLst xmlns:a="http://schemas.openxmlformats.org/drawingml/2006/main">
              <a:ext uri="{FF2B5EF4-FFF2-40B4-BE49-F238E27FC236}">
                <a16:creationId xmlns:a16="http://schemas.microsoft.com/office/drawing/2014/main" id="{A0BC2B60-1878-41BD-BC72-84ECA281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819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Sequence, event, loop, condition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What structure did the blocks make visible?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2D4F96C-15A0-4099-9C2D-CADAFA5C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A970FF"/>
            </a:solidFill>
            <a:prstDash val="solid"/>
          </a:ln>
        </p:spPr>
      </p:sp>
      <p:sp>
        <p:nvSpPr>
          <p:cNvPr id="11" name="text-heading">
            <a:extLst xmlns:a="http://schemas.openxmlformats.org/drawingml/2006/main">
              <a:ext uri="{FF2B5EF4-FFF2-40B4-BE49-F238E27FC236}">
                <a16:creationId xmlns:a16="http://schemas.microsoft.com/office/drawing/2014/main" id="{4B8C8F0F-78EB-47E0-9177-223BDFCD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TEXT</a:t>
            </a:r>
          </a:p>
        </p:txBody>
      </p:sp>
      <p:sp>
        <p:nvSpPr>
          <p:cNvPr id="12" name="text-body">
            <a:extLst xmlns:a="http://schemas.openxmlformats.org/drawingml/2006/main">
              <a:ext uri="{FF2B5EF4-FFF2-40B4-BE49-F238E27FC236}">
                <a16:creationId xmlns:a16="http://schemas.microsoft.com/office/drawing/2014/main" id="{52C7CBE2-AD83-4CCE-AC99-9AABD64D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05100"/>
            <a:ext cx="2819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Named types, operations, syntax, nested loops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What became more explicit?</a:t>
            </a:r>
          </a:p>
        </p:txBody>
      </p:sp>
      <p:sp>
        <p:nvSpPr>
          <p:cNvPr id="13" name="robot">
            <a:extLst xmlns:a="http://schemas.openxmlformats.org/drawingml/2006/main">
              <a:ext uri="{FF2B5EF4-FFF2-40B4-BE49-F238E27FC236}">
                <a16:creationId xmlns:a16="http://schemas.microsoft.com/office/drawing/2014/main" id="{E1E32E41-DF1B-4801-B937-C8C4A925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23850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BE8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14" name="robot-heading">
            <a:extLst xmlns:a="http://schemas.openxmlformats.org/drawingml/2006/main">
              <a:ext uri="{FF2B5EF4-FFF2-40B4-BE49-F238E27FC236}">
                <a16:creationId xmlns:a16="http://schemas.microsoft.com/office/drawing/2014/main" id="{F734F3ED-8BAD-4AB4-A4CD-95B900A7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ROBOT</a:t>
            </a:r>
          </a:p>
        </p:txBody>
      </p:sp>
      <p:sp>
        <p:nvSpPr>
          <p:cNvPr id="15" name="robot-body">
            <a:extLst xmlns:a="http://schemas.openxmlformats.org/drawingml/2006/main">
              <a:ext uri="{FF2B5EF4-FFF2-40B4-BE49-F238E27FC236}">
                <a16:creationId xmlns:a16="http://schemas.microsoft.com/office/drawing/2014/main" id="{E7396391-3745-41A2-AECE-8852C6B5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05100"/>
            <a:ext cx="2819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Heading, speed, distance, timing, physical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What did the real result reveal?</a:t>
            </a:r>
          </a:p>
        </p:txBody>
      </p:sp>
      <p:sp>
        <p:nvSpPr>
          <p:cNvPr id="16" name="final-reflection">
            <a:extLst xmlns:a="http://schemas.openxmlformats.org/drawingml/2006/main">
              <a:ext uri="{FF2B5EF4-FFF2-40B4-BE49-F238E27FC236}">
                <a16:creationId xmlns:a16="http://schemas.microsoft.com/office/drawing/2014/main" id="{0E143FBA-21FE-4D42-AC92-CC653253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435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Use one specific revision in the Passport final reflection.</a:t>
            </a:r>
          </a:p>
        </p:txBody>
      </p:sp>
    </p:spTree>
    <p:extLst>
      <p:ext uri="{BB962C8B-B14F-4D97-AF65-F5344CB8AC3E}">
        <p14:creationId xmlns:p14="http://schemas.microsoft.com/office/powerpoint/2010/main" val="752767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2026-08-23T02:52:47.4510000Z</dcterms:created>
  <dcterms:modified xsi:type="dcterms:W3CDTF">2026-08-23T02:52:47.4510000Z</dcterms:modified>
</coreProperties>
</file>